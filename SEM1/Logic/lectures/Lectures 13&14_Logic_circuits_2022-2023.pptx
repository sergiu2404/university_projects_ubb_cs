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3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93" r:id="rId3"/>
    <p:sldId id="257" r:id="rId4"/>
    <p:sldId id="258" r:id="rId5"/>
    <p:sldId id="259" r:id="rId6"/>
    <p:sldId id="260" r:id="rId7"/>
    <p:sldId id="261" r:id="rId8"/>
    <p:sldId id="301" r:id="rId9"/>
    <p:sldId id="300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3" r:id="rId18"/>
    <p:sldId id="299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9" r:id="rId31"/>
    <p:sldId id="290" r:id="rId32"/>
    <p:sldId id="291" r:id="rId33"/>
    <p:sldId id="292" r:id="rId34"/>
    <p:sldId id="288" r:id="rId35"/>
    <p:sldId id="304" r:id="rId36"/>
    <p:sldId id="302" r:id="rId37"/>
    <p:sldId id="303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60"/>
  </p:normalViewPr>
  <p:slideViewPr>
    <p:cSldViewPr>
      <p:cViewPr varScale="1">
        <p:scale>
          <a:sx n="97" d="100"/>
          <a:sy n="97" d="100"/>
        </p:scale>
        <p:origin x="26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772F4-4470-4F12-8EB0-CCCF068C48FB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BA77D449-C9D4-4F0E-8FA8-6B61D5A0646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65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EA5DF0C-4168-4EDF-B065-B46058E47B59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B2DB96C-544E-4AB2-9B64-C60ABB81D2C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E85F6-5D4B-4D63-8639-84BB0226843A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BB9D0BF4-C982-4736-B75F-243D30188F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7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FFF8D-BA65-4C1F-AAB8-599F6E744500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3122E5-0276-4C3A-89CF-88B780241A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0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447A6-2078-4B89-A4F4-BA917A747BE9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75CA82-AF7D-4E9A-A5F7-E63BEBAA1B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E2B79A5-3329-441C-AE01-D4EB813E5790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92BBA3-FF9F-4E47-8461-10978D8E8C8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4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94823-D857-4A50-8333-F62588C08D8E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D11929-B627-4F36-B621-50ADCBC06C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3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186E747-C06B-4696-817C-A58CABA03FFC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22CFF8-1883-40E4-8E63-3A164B7D0D7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2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850D333-15B0-46A2-86DB-C0387C8323C3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2857B0-A663-4F22-AD3B-0BFBF46A055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0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6919C-A5D3-486B-B908-25EB68844B71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051028-DF2A-4961-8DAE-2A3A170FDFB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5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354CC-FF00-42E1-8382-479EEC3DCCB0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A42D7-FF78-4899-A028-A245A7560C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7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814160F-1030-44B2-9D7E-579492D34430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C33338D6-61DA-48D7-8AC6-1D1F56F9DE4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16" r:id="rId4"/>
    <p:sldLayoutId id="2147483817" r:id="rId5"/>
    <p:sldLayoutId id="2147483824" r:id="rId6"/>
    <p:sldLayoutId id="2147483818" r:id="rId7"/>
    <p:sldLayoutId id="2147483825" r:id="rId8"/>
    <p:sldLayoutId id="2147483826" r:id="rId9"/>
    <p:sldLayoutId id="2147483819" r:id="rId10"/>
    <p:sldLayoutId id="214748382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cDshWmhF4A" TargetMode="External"/><Relationship Id="rId2" Type="http://schemas.openxmlformats.org/officeDocument/2006/relationships/hyperlink" Target="https://www.youtube.com/watch?v=w6E7aQnA4W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8BOvLL8ok8I" TargetMode="External"/><Relationship Id="rId5" Type="http://schemas.openxmlformats.org/officeDocument/2006/relationships/hyperlink" Target="https://www.youtube.com/watch?v=kQeDnFUNW-Q" TargetMode="External"/><Relationship Id="rId4" Type="http://schemas.openxmlformats.org/officeDocument/2006/relationships/hyperlink" Target="https://www.youtube.com/watch?v=IxXaizglscw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5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0.wmf"/><Relationship Id="rId9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5.wmf"/><Relationship Id="rId9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cursion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209800"/>
            <a:ext cx="6629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 Circuits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1600200"/>
            <a:ext cx="6400800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7" y="107157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189384"/>
            <a:ext cx="4495800" cy="430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HAPPY NEW YEAR!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838200"/>
            <a:ext cx="570547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6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Logic Circuits</a:t>
            </a:r>
            <a:endParaRPr lang="en-US" b="1" u="sng" dirty="0"/>
          </a:p>
        </p:txBody>
      </p:sp>
      <p:sp>
        <p:nvSpPr>
          <p:cNvPr id="9219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447800"/>
            <a:ext cx="7848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20762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    Basic gates – IEEE standards</a:t>
            </a:r>
            <a:endParaRPr lang="en-US" b="1" dirty="0"/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524000"/>
            <a:ext cx="7467600" cy="4089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4286"/>
            <a:ext cx="7467600" cy="11430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500" y="457200"/>
            <a:ext cx="7239000" cy="2209800"/>
          </a:xfrm>
          <a:noFill/>
        </p:spPr>
      </p:pic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667000"/>
            <a:ext cx="77724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9517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Derived gates</a:t>
            </a:r>
            <a:r>
              <a:rPr lang="en-US" sz="2600" b="1" dirty="0" smtClean="0"/>
              <a:t>:</a:t>
            </a:r>
            <a:r>
              <a:rPr lang="en-US" sz="2600" dirty="0" smtClean="0"/>
              <a:t>  </a:t>
            </a:r>
            <a:r>
              <a:rPr lang="en-US" sz="2500" b="1" dirty="0" smtClean="0"/>
              <a:t>XOR, NAND, NOR, NXOR</a:t>
            </a:r>
            <a:endParaRPr lang="en-US" sz="2500" b="1" dirty="0"/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723079"/>
            <a:ext cx="7924800" cy="4038600"/>
          </a:xfrm>
          <a:noFill/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73" y="4736741"/>
            <a:ext cx="7562850" cy="11306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/>
              <a:t>Example 1</a:t>
            </a:r>
            <a:endParaRPr lang="en-US" sz="2800" b="1" u="sng" dirty="0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47800"/>
            <a:ext cx="7924800" cy="3886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u="sng" dirty="0" smtClean="0"/>
              <a:t>Example 2</a:t>
            </a:r>
            <a:endParaRPr lang="en-US" sz="26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304800" y="824345"/>
            <a:ext cx="8000999" cy="15212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1" y="2435684"/>
            <a:ext cx="7391399" cy="27154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359" y="2911502"/>
            <a:ext cx="228599" cy="2624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800" y="3962400"/>
            <a:ext cx="495300" cy="2918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3276600"/>
            <a:ext cx="1066800" cy="2803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5800" y="4441206"/>
            <a:ext cx="130559" cy="3532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2868047"/>
            <a:ext cx="122462" cy="18369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4993" y="3108776"/>
            <a:ext cx="135322" cy="19104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9039" y="3825759"/>
            <a:ext cx="135322" cy="1910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3313" y="3556926"/>
            <a:ext cx="147001" cy="2531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6517" y="5022575"/>
            <a:ext cx="142875" cy="2571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7400" y="4410165"/>
            <a:ext cx="432023" cy="33121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3605881"/>
            <a:ext cx="1545432" cy="27992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9817" y="5241218"/>
            <a:ext cx="8153400" cy="50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0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u="sng" dirty="0" smtClean="0"/>
              <a:t>Example 3</a:t>
            </a:r>
            <a:r>
              <a:rPr lang="en-US" sz="2600" b="1" dirty="0" smtClean="0"/>
              <a:t>. NAND is a universal gate</a:t>
            </a:r>
            <a:br>
              <a:rPr lang="en-US" sz="2600" b="1" dirty="0" smtClean="0"/>
            </a:br>
            <a:r>
              <a:rPr lang="en-US" sz="2600" b="1" dirty="0" smtClean="0"/>
              <a:t>      -</a:t>
            </a:r>
            <a:r>
              <a:rPr lang="en-US" sz="2400" b="1" dirty="0" smtClean="0"/>
              <a:t>it can be used to produce  all the other gates</a:t>
            </a:r>
            <a:endParaRPr lang="en-US" sz="2600" b="1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638800"/>
            <a:ext cx="3668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60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4"/>
          <a:stretch>
            <a:fillRect/>
          </a:stretch>
        </p:blipFill>
        <p:spPr>
          <a:xfrm>
            <a:off x="342901" y="1160101"/>
            <a:ext cx="7467600" cy="9892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1" y="2076331"/>
            <a:ext cx="7467600" cy="6607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231" y="2740481"/>
            <a:ext cx="7374169" cy="12091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235" y="3949622"/>
            <a:ext cx="7388165" cy="121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6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Combinational circuits</a:t>
            </a:r>
            <a:endParaRPr lang="en-US" sz="2600" b="1" dirty="0"/>
          </a:p>
        </p:txBody>
      </p:sp>
      <p:pic>
        <p:nvPicPr>
          <p:cNvPr id="1638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066800"/>
            <a:ext cx="80772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694" y="629728"/>
            <a:ext cx="8153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u="sng" dirty="0" smtClean="0"/>
              <a:t>Examples </a:t>
            </a:r>
            <a:r>
              <a:rPr lang="ro-RO" b="1" dirty="0" smtClean="0"/>
              <a:t>of useful combinational circuits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endParaRPr lang="en-US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752600"/>
            <a:ext cx="8001000" cy="3505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GB" b="1" u="sng" dirty="0" smtClean="0"/>
              <a:t>Example 4</a:t>
            </a:r>
            <a:endParaRPr lang="en-US" dirty="0"/>
          </a:p>
        </p:txBody>
      </p:sp>
      <p:sp>
        <p:nvSpPr>
          <p:cNvPr id="1843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8153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5</a:t>
            </a:r>
            <a:r>
              <a:rPr lang="en-US" sz="2600" b="1" dirty="0" smtClean="0"/>
              <a:t>. Full Adder</a:t>
            </a:r>
            <a:endParaRPr lang="en-US" sz="2600" b="1" dirty="0"/>
          </a:p>
        </p:txBody>
      </p:sp>
      <p:pic>
        <p:nvPicPr>
          <p:cNvPr id="1945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7620000" cy="512762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5</a:t>
            </a:r>
            <a:r>
              <a:rPr lang="en-US" sz="2600" b="1" dirty="0" smtClean="0"/>
              <a:t>. Full Adder (contd.)</a:t>
            </a:r>
            <a:endParaRPr lang="en-US" sz="2600" dirty="0"/>
          </a:p>
        </p:txBody>
      </p:sp>
      <p:sp>
        <p:nvSpPr>
          <p:cNvPr id="20483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9530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1057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5</a:t>
            </a:r>
            <a:r>
              <a:rPr lang="en-US" sz="2600" b="1" dirty="0" smtClean="0"/>
              <a:t>. Full Adder (contd.)</a:t>
            </a:r>
            <a:endParaRPr lang="en-US" sz="2600" dirty="0"/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00200"/>
            <a:ext cx="7391400" cy="3751263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 fontScale="90000"/>
          </a:bodyPr>
          <a:lstStyle/>
          <a:p>
            <a:pPr marL="0" lvl="6" eaLnBrk="0" hangingPunct="0">
              <a:defRPr/>
            </a:pPr>
            <a:r>
              <a:rPr lang="en-US" sz="3200" b="1" u="sng" dirty="0" smtClean="0"/>
              <a:t>Example 6</a:t>
            </a:r>
            <a:r>
              <a:rPr lang="en-US" sz="3200" b="1" dirty="0" smtClean="0"/>
              <a:t>. </a:t>
            </a:r>
            <a:r>
              <a:rPr lang="ro-RO" sz="3200" b="1" i="1" dirty="0" smtClean="0"/>
              <a:t>n</a:t>
            </a:r>
            <a:r>
              <a:rPr lang="ro-RO" sz="3200" b="1" dirty="0" smtClean="0"/>
              <a:t> - bit</a:t>
            </a:r>
            <a:r>
              <a:rPr lang="en-US" sz="3200" b="1" dirty="0" smtClean="0"/>
              <a:t>s</a:t>
            </a:r>
            <a:r>
              <a:rPr lang="ro-RO" sz="3200" b="1" dirty="0" smtClean="0"/>
              <a:t> adder 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dirty="0"/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066800"/>
            <a:ext cx="7696200" cy="49990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143000"/>
          </a:xfrm>
        </p:spPr>
        <p:txBody>
          <a:bodyPr>
            <a:normAutofit/>
          </a:bodyPr>
          <a:lstStyle/>
          <a:p>
            <a:pPr marL="0" lvl="6" eaLnBrk="0" hangingPunct="0">
              <a:defRPr/>
            </a:pPr>
            <a:r>
              <a:rPr lang="en-US" sz="3200" b="1" u="sng" dirty="0" smtClean="0"/>
              <a:t>Example 6</a:t>
            </a:r>
            <a:r>
              <a:rPr lang="en-US" sz="3200" b="1" dirty="0" smtClean="0"/>
              <a:t>. </a:t>
            </a:r>
            <a:r>
              <a:rPr lang="ro-RO" sz="3200" b="1" i="1" dirty="0" smtClean="0"/>
              <a:t>n</a:t>
            </a:r>
            <a:r>
              <a:rPr lang="ro-RO" sz="3200" b="1" dirty="0" smtClean="0"/>
              <a:t> – bit</a:t>
            </a:r>
            <a:r>
              <a:rPr lang="en-US" sz="3200" b="1" dirty="0" smtClean="0"/>
              <a:t>s adder (contd.)</a:t>
            </a:r>
            <a:r>
              <a:rPr lang="ro-RO" sz="3200" b="1" dirty="0" smtClean="0"/>
              <a:t> 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dirty="0"/>
          </a:p>
        </p:txBody>
      </p:sp>
      <p:sp>
        <p:nvSpPr>
          <p:cNvPr id="23555" name="Content Placeholder 3"/>
          <p:cNvSpPr>
            <a:spLocks noGrp="1"/>
          </p:cNvSpPr>
          <p:nvPr>
            <p:ph sz="quarter" idx="1"/>
          </p:nvPr>
        </p:nvSpPr>
        <p:spPr>
          <a:xfrm>
            <a:off x="514488" y="0"/>
            <a:ext cx="7467600" cy="4873625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7924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21566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85800"/>
            <a:ext cx="7772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Algerian" panose="04020705040A02060702" pitchFamily="82" charset="0"/>
              </a:rPr>
              <a:t>Fun with logic circuits</a:t>
            </a:r>
          </a:p>
          <a:p>
            <a:endParaRPr lang="en-US" dirty="0"/>
          </a:p>
          <a:p>
            <a:r>
              <a:rPr lang="en-US" b="1" dirty="0" smtClean="0"/>
              <a:t>Domino computer:</a:t>
            </a: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www.youtube.com/watch?v=w6E7aQnA4Ws</a:t>
            </a:r>
            <a:endParaRPr lang="en-US" dirty="0" smtClean="0"/>
          </a:p>
          <a:p>
            <a:endParaRPr lang="en-US" dirty="0"/>
          </a:p>
          <a:p>
            <a:r>
              <a:rPr lang="en-US" b="1" dirty="0"/>
              <a:t>Marble adding machine</a:t>
            </a:r>
          </a:p>
          <a:p>
            <a:r>
              <a:rPr lang="en-US" b="1" dirty="0">
                <a:hlinkClick r:id="rId3"/>
              </a:rPr>
              <a:t>https://www.youtube.com/watch?v=GcDshWmhF4A</a:t>
            </a:r>
            <a:endParaRPr lang="en-US" b="1" dirty="0"/>
          </a:p>
          <a:p>
            <a:endParaRPr lang="en-US" b="1" dirty="0"/>
          </a:p>
          <a:p>
            <a:r>
              <a:rPr lang="en-US" b="1" dirty="0" smtClean="0"/>
              <a:t>Water computer:</a:t>
            </a:r>
          </a:p>
          <a:p>
            <a:r>
              <a:rPr lang="en-US" dirty="0" smtClean="0"/>
              <a:t> </a:t>
            </a:r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www.youtube.com/watch?v=IxXaizglscw</a:t>
            </a:r>
            <a:endParaRPr lang="en-US" dirty="0" smtClean="0"/>
          </a:p>
          <a:p>
            <a:endParaRPr lang="en-US" dirty="0"/>
          </a:p>
          <a:p>
            <a:r>
              <a:rPr lang="en-US" b="1" dirty="0"/>
              <a:t>Logic gates using Gears</a:t>
            </a:r>
            <a:r>
              <a:rPr lang="en-US" b="1" dirty="0" smtClean="0"/>
              <a:t>, Marbles </a:t>
            </a:r>
            <a:r>
              <a:rPr lang="en-US" b="1" dirty="0"/>
              <a:t>&amp; </a:t>
            </a:r>
            <a:r>
              <a:rPr lang="en-US" b="1" dirty="0" smtClean="0"/>
              <a:t>Dominoes:</a:t>
            </a:r>
            <a:endParaRPr lang="en-US" b="1" dirty="0"/>
          </a:p>
          <a:p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www.youtube.com/watch?v=kQeDnFUNW-Q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/>
              <a:t>A Computer That Runs on </a:t>
            </a:r>
            <a:r>
              <a:rPr lang="en-US" b="1" dirty="0" smtClean="0"/>
              <a:t>Marbles:</a:t>
            </a:r>
            <a:endParaRPr lang="en-US" b="1" dirty="0"/>
          </a:p>
          <a:p>
            <a:r>
              <a:rPr lang="en-US" dirty="0" smtClean="0">
                <a:hlinkClick r:id="rId6"/>
              </a:rPr>
              <a:t>https</a:t>
            </a:r>
            <a:r>
              <a:rPr lang="en-US" dirty="0">
                <a:hlinkClick r:id="rId6"/>
              </a:rPr>
              <a:t>://</a:t>
            </a:r>
            <a:r>
              <a:rPr lang="en-US" dirty="0" smtClean="0">
                <a:hlinkClick r:id="rId6"/>
              </a:rPr>
              <a:t>www.youtube.com/watch?v=8BOvLL8ok8I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4828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61" y="0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3200" b="1" u="sng" dirty="0" smtClean="0"/>
              <a:t>Example 7</a:t>
            </a:r>
            <a:r>
              <a:rPr lang="en-US" sz="3200" b="1" dirty="0" smtClean="0"/>
              <a:t>. Full </a:t>
            </a:r>
            <a:r>
              <a:rPr lang="en-US" sz="3200" b="1" dirty="0" err="1" smtClean="0"/>
              <a:t>Subtractor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838200"/>
            <a:ext cx="7772400" cy="548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/>
              <a:t>Example 7</a:t>
            </a:r>
            <a:r>
              <a:rPr lang="en-US" sz="2800" b="1" dirty="0" smtClean="0"/>
              <a:t>. Full </a:t>
            </a:r>
            <a:r>
              <a:rPr lang="en-US" sz="2800" b="1" dirty="0" err="1" smtClean="0"/>
              <a:t>Subtractor</a:t>
            </a:r>
            <a:r>
              <a:rPr lang="en-US" sz="2800" b="1" dirty="0" smtClean="0"/>
              <a:t> (contd.)</a:t>
            </a:r>
            <a:endParaRPr lang="en-US" dirty="0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371600"/>
            <a:ext cx="75438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 smtClean="0"/>
              <a:t>Example 7</a:t>
            </a:r>
            <a:r>
              <a:rPr lang="en-US" sz="3200" b="1" dirty="0" smtClean="0"/>
              <a:t>. Full </a:t>
            </a:r>
            <a:r>
              <a:rPr lang="en-US" sz="3200" b="1" dirty="0" err="1" smtClean="0"/>
              <a:t>Subtractor</a:t>
            </a:r>
            <a:r>
              <a:rPr lang="en-US" sz="3200" b="1" dirty="0" smtClean="0"/>
              <a:t> (contd.)</a:t>
            </a:r>
            <a:endParaRPr lang="en-US" dirty="0"/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7696200" cy="44275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 fontScale="90000"/>
          </a:bodyPr>
          <a:lstStyle/>
          <a:p>
            <a:pPr marL="0" lvl="6" eaLnBrk="0" hangingPunct="0">
              <a:defRPr/>
            </a:pPr>
            <a:r>
              <a:rPr lang="en-US" sz="3200" b="1" u="sng" dirty="0" smtClean="0"/>
              <a:t>Example 8</a:t>
            </a:r>
            <a:r>
              <a:rPr lang="en-US" sz="3200" b="1" dirty="0" smtClean="0"/>
              <a:t>. </a:t>
            </a:r>
            <a:r>
              <a:rPr lang="ro-RO" sz="3200" b="1" i="1" dirty="0" smtClean="0"/>
              <a:t>n</a:t>
            </a:r>
            <a:r>
              <a:rPr lang="ro-RO" sz="3200" b="1" dirty="0" smtClean="0"/>
              <a:t> - bi</a:t>
            </a:r>
            <a:r>
              <a:rPr lang="en-US" sz="3200" b="1" dirty="0" err="1" smtClean="0"/>
              <a:t>ts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subtractor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dirty="0"/>
          </a:p>
        </p:txBody>
      </p:sp>
      <p:sp>
        <p:nvSpPr>
          <p:cNvPr id="27651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7696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382000" cy="1066800"/>
          </a:xfrm>
        </p:spPr>
        <p:txBody>
          <a:bodyPr/>
          <a:lstStyle/>
          <a:p>
            <a:pPr marL="0" lvl="6" eaLnBrk="0" hangingPunct="0">
              <a:defRPr/>
            </a:pPr>
            <a:r>
              <a:rPr lang="en-US" sz="2600" b="1" u="sng" dirty="0" smtClean="0"/>
              <a:t>Example 8</a:t>
            </a:r>
            <a:r>
              <a:rPr lang="en-US" sz="2600" b="1" dirty="0" smtClean="0"/>
              <a:t>. </a:t>
            </a:r>
            <a:r>
              <a:rPr lang="ro-RO" sz="2600" b="1" i="1" dirty="0" smtClean="0"/>
              <a:t>n</a:t>
            </a:r>
            <a:r>
              <a:rPr lang="ro-RO" sz="2600" b="1" dirty="0" smtClean="0"/>
              <a:t> – bi</a:t>
            </a:r>
            <a:r>
              <a:rPr lang="en-US" sz="2600" b="1" dirty="0" err="1" smtClean="0"/>
              <a:t>ts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subtractor</a:t>
            </a:r>
            <a:r>
              <a:rPr lang="en-US" sz="2600" b="1" dirty="0" smtClean="0"/>
              <a:t> (contd.)</a:t>
            </a:r>
            <a:r>
              <a:rPr lang="ro-RO" sz="2600" b="1" dirty="0" smtClean="0"/>
              <a:t> </a:t>
            </a:r>
            <a:r>
              <a:rPr lang="en-US" sz="2600" b="1" dirty="0" smtClean="0"/>
              <a:t/>
            </a:r>
            <a:br>
              <a:rPr lang="en-US" sz="2600" b="1" dirty="0" smtClean="0"/>
            </a:br>
            <a:endParaRPr lang="en-US" sz="2600" dirty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8153400" cy="375602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687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9</a:t>
            </a:r>
            <a:r>
              <a:rPr lang="en-US" sz="2600" b="1" dirty="0" smtClean="0"/>
              <a:t>. Encoder</a:t>
            </a:r>
            <a:endParaRPr lang="en-US" sz="2600" b="1" dirty="0"/>
          </a:p>
        </p:txBody>
      </p:sp>
      <p:pic>
        <p:nvPicPr>
          <p:cNvPr id="2969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5181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9</a:t>
            </a:r>
            <a:r>
              <a:rPr lang="en-US" sz="2600" b="1" dirty="0" smtClean="0"/>
              <a:t>. Encoder (contd.)</a:t>
            </a:r>
            <a:endParaRPr lang="en-US" sz="2600" dirty="0"/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00200"/>
            <a:ext cx="8001000" cy="368617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762000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10</a:t>
            </a:r>
            <a:r>
              <a:rPr lang="en-US" sz="2600" b="1" dirty="0" smtClean="0"/>
              <a:t>. Decoder</a:t>
            </a:r>
            <a:endParaRPr lang="en-US" sz="2600" dirty="0"/>
          </a:p>
        </p:txBody>
      </p:sp>
      <p:pic>
        <p:nvPicPr>
          <p:cNvPr id="3174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7772400" cy="51514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 smtClean="0"/>
              <a:t>Example 10</a:t>
            </a:r>
            <a:r>
              <a:rPr lang="en-US" sz="3200" b="1" dirty="0" smtClean="0"/>
              <a:t>. Decoder (contd.)</a:t>
            </a:r>
            <a:endParaRPr lang="en-US" dirty="0"/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219200"/>
            <a:ext cx="7467600" cy="4648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Example 11</a:t>
            </a:r>
            <a:r>
              <a:rPr lang="en-US" dirty="0" smtClean="0"/>
              <a:t>.     </a:t>
            </a:r>
            <a:r>
              <a:rPr lang="en-US" b="1" dirty="0" smtClean="0"/>
              <a:t>7 segments Circuit</a:t>
            </a:r>
            <a:endParaRPr lang="en-US" dirty="0"/>
          </a:p>
        </p:txBody>
      </p:sp>
      <p:pic>
        <p:nvPicPr>
          <p:cNvPr id="3379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5181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563563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Example 11</a:t>
            </a:r>
            <a:r>
              <a:rPr lang="en-US" dirty="0" smtClean="0"/>
              <a:t>. </a:t>
            </a:r>
            <a:r>
              <a:rPr lang="en-US" b="1" dirty="0" smtClean="0"/>
              <a:t>7 segments Circuit</a:t>
            </a:r>
            <a:endParaRPr lang="en-US" dirty="0"/>
          </a:p>
        </p:txBody>
      </p:sp>
      <p:sp>
        <p:nvSpPr>
          <p:cNvPr id="3481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0"/>
            <a:ext cx="74676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0"/>
            <a:ext cx="10001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342900"/>
            <a:ext cx="8763000" cy="990600"/>
          </a:xfrm>
        </p:spPr>
        <p:txBody>
          <a:bodyPr>
            <a:noAutofit/>
          </a:bodyPr>
          <a:lstStyle/>
          <a:p>
            <a:r>
              <a:rPr lang="en-GB" sz="2000" b="1" u="sng" dirty="0" smtClean="0"/>
              <a:t/>
            </a:r>
            <a:br>
              <a:rPr lang="en-GB" sz="2000" b="1" u="sng" dirty="0" smtClean="0"/>
            </a:br>
            <a:r>
              <a:rPr lang="en-GB" sz="2000" b="1" u="sng" dirty="0"/>
              <a:t/>
            </a:r>
            <a:br>
              <a:rPr lang="en-GB" sz="2000" b="1" u="sng" dirty="0"/>
            </a:br>
            <a:r>
              <a:rPr lang="en-GB" sz="2000" b="1" u="sng" dirty="0" smtClean="0"/>
              <a:t/>
            </a:r>
            <a:br>
              <a:rPr lang="en-GB" sz="2000" b="1" u="sng" dirty="0" smtClean="0"/>
            </a:br>
            <a:r>
              <a:rPr lang="en-GB" sz="2000" b="1" u="sng" dirty="0"/>
              <a:t/>
            </a:r>
            <a:br>
              <a:rPr lang="en-GB" sz="2000" b="1" u="sng" dirty="0"/>
            </a:br>
            <a:r>
              <a:rPr lang="en-GB" sz="2000" b="1" u="sng" dirty="0" smtClean="0"/>
              <a:t/>
            </a:r>
            <a:br>
              <a:rPr lang="en-GB" sz="2000" b="1" u="sng" dirty="0" smtClean="0"/>
            </a:br>
            <a:r>
              <a:rPr lang="en-GB" sz="2000" b="1" u="sng" dirty="0" smtClean="0"/>
              <a:t>Example 12. </a:t>
            </a:r>
            <a:r>
              <a:rPr lang="en-GB" sz="2000" b="1" dirty="0" smtClean="0"/>
              <a:t>Implement </a:t>
            </a:r>
            <a:r>
              <a:rPr lang="en-GB" sz="2000" b="1" dirty="0"/>
              <a:t>the </a:t>
            </a:r>
            <a:r>
              <a:rPr lang="en-GB" sz="2000" b="1" dirty="0" smtClean="0"/>
              <a:t>Simplified Logic Circuit </a:t>
            </a:r>
            <a:br>
              <a:rPr lang="en-GB" sz="2000" b="1" dirty="0" smtClean="0"/>
            </a:br>
            <a:r>
              <a:rPr lang="en-GB" sz="2000" b="1" dirty="0"/>
              <a:t> </a:t>
            </a:r>
            <a:r>
              <a:rPr lang="en-GB" sz="2000" b="1" dirty="0" smtClean="0"/>
              <a:t>                    for </a:t>
            </a:r>
            <a:r>
              <a:rPr lang="en-GB" sz="2000" b="1" i="1" dirty="0"/>
              <a:t>S</a:t>
            </a:r>
            <a:r>
              <a:rPr lang="en-GB" sz="2000" b="1" i="1" baseline="-25000" dirty="0"/>
              <a:t>3</a:t>
            </a:r>
            <a:r>
              <a:rPr lang="en-GB" sz="2000" b="1" i="1" dirty="0"/>
              <a:t> </a:t>
            </a:r>
            <a:r>
              <a:rPr lang="en-GB" sz="2000" b="1" dirty="0" smtClean="0"/>
              <a:t>using </a:t>
            </a:r>
            <a:r>
              <a:rPr lang="en-GB" sz="2000" b="1" dirty="0"/>
              <a:t>only </a:t>
            </a:r>
            <a:r>
              <a:rPr lang="en-GB" sz="2000" b="1" u="sng" dirty="0"/>
              <a:t>NAND</a:t>
            </a:r>
            <a:r>
              <a:rPr lang="en-GB" sz="2000" b="1" dirty="0"/>
              <a:t> </a:t>
            </a:r>
            <a:r>
              <a:rPr lang="en-GB" sz="2000" b="1" dirty="0" smtClean="0"/>
              <a:t>gates </a:t>
            </a:r>
            <a:r>
              <a:rPr lang="en-US" sz="2000" b="1" dirty="0"/>
              <a:t/>
            </a:r>
            <a:br>
              <a:rPr lang="en-US" sz="2000" b="1" dirty="0"/>
            </a:b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7800"/>
            <a:ext cx="8229600" cy="3962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2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05934"/>
            <a:ext cx="7467600" cy="334962"/>
          </a:xfrm>
        </p:spPr>
        <p:txBody>
          <a:bodyPr>
            <a:noAutofit/>
          </a:bodyPr>
          <a:lstStyle/>
          <a:p>
            <a:r>
              <a:rPr lang="en-GB" sz="2400" b="1" u="sng" dirty="0"/>
              <a:t>Example </a:t>
            </a:r>
            <a:r>
              <a:rPr lang="en-GB" sz="2400" b="1" u="sng" dirty="0" smtClean="0"/>
              <a:t>12(contd.)</a:t>
            </a:r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696200" y="685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729595"/>
              </p:ext>
            </p:extLst>
          </p:nvPr>
        </p:nvGraphicFramePr>
        <p:xfrm>
          <a:off x="7013664" y="4191001"/>
          <a:ext cx="1330566" cy="304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" name="Equation" r:id="rId3" imgW="748975" imgH="203112" progId="Equation.3">
                  <p:embed/>
                </p:oleObj>
              </mc:Choice>
              <mc:Fallback>
                <p:oleObj name="Equation" r:id="rId3" imgW="748975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3664" y="4191001"/>
                        <a:ext cx="1330566" cy="3047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0" y="1066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640724"/>
              </p:ext>
            </p:extLst>
          </p:nvPr>
        </p:nvGraphicFramePr>
        <p:xfrm>
          <a:off x="7043379" y="4648200"/>
          <a:ext cx="146304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Equation" r:id="rId5" imgW="990170" imgH="203112" progId="Equation.3">
                  <p:embed/>
                </p:oleObj>
              </mc:Choice>
              <mc:Fallback>
                <p:oleObj name="Equation" r:id="rId5" imgW="990170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379" y="4648200"/>
                        <a:ext cx="1463040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4172311"/>
            <a:ext cx="4553132" cy="25301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36" y="607154"/>
            <a:ext cx="7304328" cy="3429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813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751"/>
            <a:ext cx="7467600" cy="808038"/>
          </a:xfrm>
        </p:spPr>
        <p:txBody>
          <a:bodyPr>
            <a:normAutofit/>
          </a:bodyPr>
          <a:lstStyle/>
          <a:p>
            <a:r>
              <a:rPr lang="en-GB" sz="2000" b="1" u="sng" dirty="0"/>
              <a:t>Example </a:t>
            </a:r>
            <a:r>
              <a:rPr lang="en-GB" sz="2000" b="1" u="sng" dirty="0" smtClean="0"/>
              <a:t>13. </a:t>
            </a:r>
            <a:r>
              <a:rPr lang="en-GB" sz="2000" b="1" dirty="0" smtClean="0"/>
              <a:t>Implement </a:t>
            </a:r>
            <a:r>
              <a:rPr lang="en-GB" sz="2000" b="1" dirty="0"/>
              <a:t>the Logic Circuit for </a:t>
            </a:r>
            <a:r>
              <a:rPr lang="en-GB" sz="2000" b="1" i="1" dirty="0"/>
              <a:t>S</a:t>
            </a:r>
            <a:r>
              <a:rPr lang="en-GB" sz="2000" b="1" i="1" baseline="-25000" dirty="0"/>
              <a:t>3</a:t>
            </a:r>
            <a:r>
              <a:rPr lang="en-GB" sz="2000" b="1" i="1" dirty="0"/>
              <a:t> </a:t>
            </a:r>
            <a:br>
              <a:rPr lang="en-GB" sz="2000" b="1" i="1" dirty="0"/>
            </a:br>
            <a:r>
              <a:rPr lang="en-GB" sz="2000" b="1" i="1" dirty="0"/>
              <a:t>				</a:t>
            </a:r>
            <a:r>
              <a:rPr lang="en-GB" sz="2000" b="1" dirty="0"/>
              <a:t>using only </a:t>
            </a:r>
            <a:r>
              <a:rPr lang="en-GB" sz="2000" b="1" u="heavy" dirty="0" smtClean="0"/>
              <a:t>NOR</a:t>
            </a:r>
            <a:r>
              <a:rPr lang="en-GB" sz="2000" b="1" dirty="0" smtClean="0"/>
              <a:t> </a:t>
            </a:r>
            <a:r>
              <a:rPr lang="en-GB" sz="2000" b="1" dirty="0"/>
              <a:t>gates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43000"/>
            <a:ext cx="8610600" cy="4724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297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GB" sz="2400" b="1" u="sng" dirty="0"/>
              <a:t>Example </a:t>
            </a:r>
            <a:r>
              <a:rPr lang="en-GB" sz="2400" b="1" u="sng" dirty="0" smtClean="0"/>
              <a:t>13(contd</a:t>
            </a:r>
            <a:r>
              <a:rPr lang="en-GB" sz="2400" b="1" u="sng" dirty="0"/>
              <a:t>.)</a:t>
            </a:r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620000" y="1524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569455"/>
              </p:ext>
            </p:extLst>
          </p:nvPr>
        </p:nvGraphicFramePr>
        <p:xfrm>
          <a:off x="7347148" y="4733925"/>
          <a:ext cx="1169151" cy="304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" name="Equation" r:id="rId3" imgW="812447" imgH="215806" progId="Equation.3">
                  <p:embed/>
                </p:oleObj>
              </mc:Choice>
              <mc:Fallback>
                <p:oleObj name="Equation" r:id="rId3" imgW="812447" imgH="215806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7148" y="4733925"/>
                        <a:ext cx="1169151" cy="3047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396491" y="1828799"/>
            <a:ext cx="975349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070852"/>
              </p:ext>
            </p:extLst>
          </p:nvPr>
        </p:nvGraphicFramePr>
        <p:xfrm>
          <a:off x="7160525" y="5150899"/>
          <a:ext cx="1528549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" name="Equation" r:id="rId5" imgW="1066337" imgH="215806" progId="Equation.3">
                  <p:embed/>
                </p:oleObj>
              </mc:Choice>
              <mc:Fallback>
                <p:oleObj name="Equation" r:id="rId5" imgW="1066337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0525" y="5150899"/>
                        <a:ext cx="1528549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453" y="10064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685" y="685800"/>
            <a:ext cx="7172325" cy="4048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705350"/>
            <a:ext cx="52101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5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Binary codes </a:t>
            </a:r>
            <a:endParaRPr lang="en-US" b="1" u="sng" dirty="0"/>
          </a:p>
        </p:txBody>
      </p:sp>
      <p:sp>
        <p:nvSpPr>
          <p:cNvPr id="3686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dirty="0" smtClean="0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7467600" cy="639762"/>
          </a:xfrm>
        </p:spPr>
        <p:txBody>
          <a:bodyPr/>
          <a:lstStyle/>
          <a:p>
            <a:r>
              <a:rPr lang="en-US" b="1" u="sng" dirty="0"/>
              <a:t>Binary codes</a:t>
            </a:r>
            <a:r>
              <a:rPr lang="en-US" b="1" dirty="0"/>
              <a:t> (contd.)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90600"/>
            <a:ext cx="3415092" cy="5286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692" y="1008993"/>
            <a:ext cx="2180875" cy="522631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2668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984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Gray Codes on n bits</a:t>
            </a:r>
            <a:endParaRPr lang="en-US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34" y="996626"/>
            <a:ext cx="3400425" cy="3238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8600" y="1054732"/>
            <a:ext cx="47244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02122"/>
                </a:solidFill>
              </a:rPr>
              <a:t>The binary-reflected </a:t>
            </a:r>
            <a:r>
              <a:rPr lang="en-US" u="sng" dirty="0">
                <a:solidFill>
                  <a:srgbClr val="202122"/>
                </a:solidFill>
              </a:rPr>
              <a:t>Gray code </a:t>
            </a:r>
            <a:r>
              <a:rPr lang="en-US" dirty="0">
                <a:solidFill>
                  <a:srgbClr val="202122"/>
                </a:solidFill>
              </a:rPr>
              <a:t>list for </a:t>
            </a:r>
            <a:r>
              <a:rPr lang="en-US" i="1" dirty="0">
                <a:solidFill>
                  <a:srgbClr val="202122"/>
                </a:solidFill>
              </a:rPr>
              <a:t>n</a:t>
            </a:r>
            <a:r>
              <a:rPr lang="en-US" dirty="0">
                <a:solidFill>
                  <a:srgbClr val="202122"/>
                </a:solidFill>
              </a:rPr>
              <a:t> bits can be </a:t>
            </a:r>
            <a:r>
              <a:rPr lang="en-US" dirty="0" smtClean="0">
                <a:solidFill>
                  <a:srgbClr val="202122"/>
                </a:solidFill>
              </a:rPr>
              <a:t>generated</a:t>
            </a:r>
            <a:r>
              <a:rPr lang="en-US" dirty="0">
                <a:solidFill>
                  <a:srgbClr val="202122"/>
                </a:solidFill>
              </a:rPr>
              <a:t> </a:t>
            </a:r>
            <a:r>
              <a:rPr lang="en-US" dirty="0" smtClean="0">
                <a:solidFill>
                  <a:srgbClr val="202122"/>
                </a:solidFill>
              </a:rPr>
              <a:t> </a:t>
            </a:r>
            <a:r>
              <a:rPr lang="en-US" dirty="0" smtClean="0">
                <a:solidFill>
                  <a:srgbClr val="0645AD"/>
                </a:solidFill>
                <a:hlinkClick r:id="rId3" tooltip="Recursion"/>
              </a:rPr>
              <a:t>recursively</a:t>
            </a:r>
            <a:r>
              <a:rPr lang="en-US" dirty="0">
                <a:solidFill>
                  <a:srgbClr val="202122"/>
                </a:solidFill>
              </a:rPr>
              <a:t> from the list for </a:t>
            </a:r>
            <a:r>
              <a:rPr lang="en-US" i="1" dirty="0">
                <a:solidFill>
                  <a:srgbClr val="202122"/>
                </a:solidFill>
              </a:rPr>
              <a:t>n</a:t>
            </a:r>
            <a:r>
              <a:rPr lang="en-US" dirty="0">
                <a:solidFill>
                  <a:srgbClr val="202122"/>
                </a:solidFill>
              </a:rPr>
              <a:t> − 1 bits by reflecting the list (i.e. listing the entries in reverse order), prefixing the entries in the original list with a binary </a:t>
            </a:r>
            <a:r>
              <a:rPr lang="en-US" b="1" dirty="0">
                <a:solidFill>
                  <a:srgbClr val="202122"/>
                </a:solidFill>
                <a:latin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202122"/>
                </a:solidFill>
              </a:rPr>
              <a:t>, prefixing the entries in the reflected list with a binary </a:t>
            </a:r>
            <a:r>
              <a:rPr lang="en-US" b="1" dirty="0" smtClean="0">
                <a:solidFill>
                  <a:srgbClr val="202122"/>
                </a:solidFill>
                <a:latin typeface="Courier New" panose="02070309020205020404" pitchFamily="49" charset="0"/>
              </a:rPr>
              <a:t>1</a:t>
            </a:r>
            <a:r>
              <a:rPr lang="en-US" dirty="0" smtClean="0">
                <a:solidFill>
                  <a:srgbClr val="202122"/>
                </a:solidFill>
              </a:rPr>
              <a:t>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4424485"/>
            <a:ext cx="751123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solidFill>
                <a:srgbClr val="3C4852"/>
              </a:solidFill>
              <a:latin typeface="AvertaStd"/>
            </a:endParaRPr>
          </a:p>
          <a:p>
            <a:pPr>
              <a:lnSpc>
                <a:spcPct val="150000"/>
              </a:lnSpc>
            </a:pPr>
            <a:r>
              <a:rPr lang="en-US" u="sng" dirty="0" smtClean="0">
                <a:solidFill>
                  <a:srgbClr val="3C4852"/>
                </a:solidFill>
                <a:latin typeface="AvertaStd"/>
              </a:rPr>
              <a:t>Gray </a:t>
            </a:r>
            <a:r>
              <a:rPr lang="en-US" u="sng" dirty="0">
                <a:solidFill>
                  <a:srgbClr val="3C4852"/>
                </a:solidFill>
                <a:latin typeface="AvertaStd"/>
              </a:rPr>
              <a:t>Codes </a:t>
            </a:r>
            <a:r>
              <a:rPr lang="en-US" dirty="0">
                <a:solidFill>
                  <a:srgbClr val="3C4852"/>
                </a:solidFill>
                <a:latin typeface="AvertaStd"/>
              </a:rPr>
              <a:t>are now widely used in digital communications, such as digital terrestrial television and some cable television systems, to aid in error correction and improve the signal’s overall quality.</a:t>
            </a:r>
            <a:endParaRPr lang="en-US" dirty="0"/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8761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en-US" sz="3200" b="1" u="sng" dirty="0"/>
              <a:t>Example 14</a:t>
            </a:r>
            <a:r>
              <a:rPr lang="en-US" dirty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4457700" cy="186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62484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7" y="4017962"/>
            <a:ext cx="4505325" cy="175260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204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E099FB-4F0A-4FAC-9550-E6D2F14FE9A2}"/>
</file>

<file path=customXml/itemProps2.xml><?xml version="1.0" encoding="utf-8"?>
<ds:datastoreItem xmlns:ds="http://schemas.openxmlformats.org/officeDocument/2006/customXml" ds:itemID="{2710CA8A-393F-4602-9EFA-5EC4FC0B2FE1}"/>
</file>

<file path=customXml/itemProps3.xml><?xml version="1.0" encoding="utf-8"?>
<ds:datastoreItem xmlns:ds="http://schemas.openxmlformats.org/officeDocument/2006/customXml" ds:itemID="{5052FF74-C80B-45C0-A3EB-1C1ECF4D9057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5380</TotalTime>
  <Words>275</Words>
  <Application>Microsoft Office PowerPoint</Application>
  <PresentationFormat>On-screen Show (4:3)</PresentationFormat>
  <Paragraphs>55</Paragraphs>
  <Slides>37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Algerian</vt:lpstr>
      <vt:lpstr>Arial</vt:lpstr>
      <vt:lpstr>AvertaStd</vt:lpstr>
      <vt:lpstr>Century Schoolbook</vt:lpstr>
      <vt:lpstr>Courier New</vt:lpstr>
      <vt:lpstr>Times New Roman</vt:lpstr>
      <vt:lpstr>Wingdings</vt:lpstr>
      <vt:lpstr>Wingdings 2</vt:lpstr>
      <vt:lpstr>Oriel</vt:lpstr>
      <vt:lpstr>Equation</vt:lpstr>
      <vt:lpstr>LOGIC Circuits</vt:lpstr>
      <vt:lpstr>     HAPPY NEW YEAR! </vt:lpstr>
      <vt:lpstr>Logic Circuits</vt:lpstr>
      <vt:lpstr>    Basic gates – IEEE standards</vt:lpstr>
      <vt:lpstr>PowerPoint Presentation</vt:lpstr>
      <vt:lpstr>Derived gates:  XOR, NAND, NOR, NXOR</vt:lpstr>
      <vt:lpstr>Example 1</vt:lpstr>
      <vt:lpstr>Example 2</vt:lpstr>
      <vt:lpstr>Example 3. NAND is a universal gate       -it can be used to produce  all the other gates</vt:lpstr>
      <vt:lpstr>Combinational circuits</vt:lpstr>
      <vt:lpstr>Examples of useful combinational circuits </vt:lpstr>
      <vt:lpstr>Example 4</vt:lpstr>
      <vt:lpstr>Example 5. Full Adder</vt:lpstr>
      <vt:lpstr>Example 5. Full Adder (contd.)</vt:lpstr>
      <vt:lpstr>Example 5. Full Adder (contd.)</vt:lpstr>
      <vt:lpstr>Example 6. n - bits adder  </vt:lpstr>
      <vt:lpstr>Example 6. n – bits adder (contd.)  </vt:lpstr>
      <vt:lpstr>PowerPoint Presentation</vt:lpstr>
      <vt:lpstr>Example 7. Full Subtractor</vt:lpstr>
      <vt:lpstr>Example 7. Full Subtractor (contd.)</vt:lpstr>
      <vt:lpstr>Example 7. Full Subtractor (contd.)</vt:lpstr>
      <vt:lpstr>Example 8. n - bits subtractor </vt:lpstr>
      <vt:lpstr>Example 8. n – bits subtractor (contd.)  </vt:lpstr>
      <vt:lpstr>Example 9. Encoder</vt:lpstr>
      <vt:lpstr>Example 9. Encoder (contd.)</vt:lpstr>
      <vt:lpstr>Example 10. Decoder</vt:lpstr>
      <vt:lpstr>Example 10. Decoder (contd.)</vt:lpstr>
      <vt:lpstr>Example 11.     7 segments Circuit</vt:lpstr>
      <vt:lpstr>Example 11. 7 segments Circuit</vt:lpstr>
      <vt:lpstr>     Example 12. Implement the Simplified Logic Circuit                       for S3 using only NAND gates  </vt:lpstr>
      <vt:lpstr>Example 12(contd.)</vt:lpstr>
      <vt:lpstr>Example 13. Implement the Logic Circuit for S3      using only NOR gates</vt:lpstr>
      <vt:lpstr>Example 13(contd.)</vt:lpstr>
      <vt:lpstr>Binary codes </vt:lpstr>
      <vt:lpstr>Binary codes (contd.) </vt:lpstr>
      <vt:lpstr>Gray Codes on n bits</vt:lpstr>
      <vt:lpstr>Example 14.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Windows User</cp:lastModifiedBy>
  <cp:revision>207</cp:revision>
  <dcterms:created xsi:type="dcterms:W3CDTF">2017-10-24T14:24:02Z</dcterms:created>
  <dcterms:modified xsi:type="dcterms:W3CDTF">2023-01-18T18:32:35Z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