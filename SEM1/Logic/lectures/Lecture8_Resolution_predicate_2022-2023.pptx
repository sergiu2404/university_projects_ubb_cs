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23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8"/>
  </p:notesMasterIdLst>
  <p:sldIdLst>
    <p:sldId id="291" r:id="rId2"/>
    <p:sldId id="260" r:id="rId3"/>
    <p:sldId id="272" r:id="rId4"/>
    <p:sldId id="282" r:id="rId5"/>
    <p:sldId id="273" r:id="rId6"/>
    <p:sldId id="274" r:id="rId7"/>
    <p:sldId id="287" r:id="rId8"/>
    <p:sldId id="276" r:id="rId9"/>
    <p:sldId id="277" r:id="rId10"/>
    <p:sldId id="278" r:id="rId11"/>
    <p:sldId id="283" r:id="rId12"/>
    <p:sldId id="279" r:id="rId13"/>
    <p:sldId id="289" r:id="rId14"/>
    <p:sldId id="281" r:id="rId15"/>
    <p:sldId id="263" r:id="rId16"/>
    <p:sldId id="264" r:id="rId17"/>
    <p:sldId id="261" r:id="rId18"/>
    <p:sldId id="265" r:id="rId19"/>
    <p:sldId id="290" r:id="rId20"/>
    <p:sldId id="284" r:id="rId21"/>
    <p:sldId id="285" r:id="rId22"/>
    <p:sldId id="286" r:id="rId23"/>
    <p:sldId id="267" r:id="rId24"/>
    <p:sldId id="268" r:id="rId25"/>
    <p:sldId id="269" r:id="rId26"/>
    <p:sldId id="270" r:id="rId27"/>
  </p:sldIdLst>
  <p:sldSz cx="9144000" cy="6858000" type="screen4x3"/>
  <p:notesSz cx="6858000" cy="9144000"/>
  <p:defaultTextStyle>
    <a:defPPr>
      <a:defRPr lang="ro-RO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77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C9F0CB3-22F1-40E7-A23F-C8F947F73484}" type="datetimeFigureOut">
              <a:rPr lang="en-US"/>
              <a:pPr>
                <a:defRPr/>
              </a:pPr>
              <a:t>11/24/2022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88E1F71-045E-4180-8B23-FF7A86A0831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34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3BEC078-A189-49BC-B809-883CDE1E5070}" type="slidenum">
              <a:rPr lang="en-US"/>
              <a:pPr eaLnBrk="1" hangingPunct="1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858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94E88A8-1F7E-4BFA-ADF5-7219F3183883}" type="slidenum">
              <a:rPr lang="en-US"/>
              <a:pPr eaLnBrk="1" hangingPunct="1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103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4609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ro-RO"/>
              <a:t>Click to edit Master title style</a:t>
            </a:r>
          </a:p>
        </p:txBody>
      </p:sp>
      <p:sp>
        <p:nvSpPr>
          <p:cNvPr id="4609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o-RO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73937BC-A29A-407C-9E66-C8341A6F532B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47773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1494A5-780B-43B2-9538-1D2F4AC5BDD0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45531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5775D8-9FAE-4FC6-940E-C2804726AE50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84263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1CA7C1-140E-4CD6-8969-42D2AA6DC00F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15471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8E6A0A-8685-456C-AF04-6F8CA419AAD9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09434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64DDB2-6DAC-4560-A24D-ADCB6B3C23FA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530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30A2CE-8BC2-4168-9C8E-BABD00A28A56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46959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AC4B6B-9CA8-46C5-9676-0A32F1EAB06A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9092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BA9069-B461-4E48-B33F-5DEB9BB89C27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7799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274C9E-0621-48F5-818B-EDF77F4A8E3E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82881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AB65C8-A24F-48CD-9206-790917AB3BC0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6644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ACD82A-3934-4C56-9B81-04A60EF2FD07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27975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o-RO" smtClean="0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o-RO" smtClean="0"/>
              <a:t>Click to edit Master text styles</a:t>
            </a:r>
          </a:p>
          <a:p>
            <a:pPr lvl="1"/>
            <a:r>
              <a:rPr lang="ro-RO" smtClean="0"/>
              <a:t>Second level</a:t>
            </a:r>
          </a:p>
          <a:p>
            <a:pPr lvl="2"/>
            <a:r>
              <a:rPr lang="ro-RO" smtClean="0"/>
              <a:t>Third level</a:t>
            </a:r>
          </a:p>
          <a:p>
            <a:pPr lvl="3"/>
            <a:r>
              <a:rPr lang="ro-RO" smtClean="0"/>
              <a:t>Fourth level</a:t>
            </a:r>
          </a:p>
          <a:p>
            <a:pPr lvl="4"/>
            <a:r>
              <a:rPr lang="ro-RO" smtClean="0"/>
              <a:t>Fifth level</a:t>
            </a:r>
          </a:p>
        </p:txBody>
      </p:sp>
      <p:sp>
        <p:nvSpPr>
          <p:cNvPr id="4506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506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506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20F78F9-193B-4853-90FD-646D8ADBE044}" type="slidenum">
              <a:rPr lang="ro-RO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5972175" cy="547687"/>
          </a:xfrm>
        </p:spPr>
        <p:txBody>
          <a:bodyPr/>
          <a:lstStyle/>
          <a:p>
            <a:r>
              <a:rPr lang="en-US" sz="3200" dirty="0" smtClean="0"/>
              <a:t>Logic quotes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914400"/>
            <a:ext cx="7772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478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914400"/>
            <a:ext cx="7793037" cy="838200"/>
          </a:xfrm>
        </p:spPr>
        <p:txBody>
          <a:bodyPr/>
          <a:lstStyle/>
          <a:p>
            <a:pPr eaLnBrk="1" hangingPunct="1"/>
            <a:r>
              <a:rPr lang="en-US" sz="4000" smtClean="0"/>
              <a:t>Resolution in predicate Logic</a:t>
            </a:r>
            <a:br>
              <a:rPr lang="en-US" sz="4000" smtClean="0"/>
            </a:br>
            <a:endParaRPr lang="ro-RO" sz="400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981200"/>
            <a:ext cx="8610600" cy="4114800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en-US" sz="2400" b="1" i="1" smtClean="0"/>
              <a:t>Normal forms of predicate (first-order) formulas</a:t>
            </a:r>
          </a:p>
          <a:p>
            <a:pPr lvl="1" eaLnBrk="1" hangingPunct="1">
              <a:lnSpc>
                <a:spcPct val="200000"/>
              </a:lnSpc>
            </a:pPr>
            <a:r>
              <a:rPr lang="en-US" sz="2200" b="1" smtClean="0"/>
              <a:t>prenex, Skolem, clausal normal forms</a:t>
            </a:r>
          </a:p>
          <a:p>
            <a:pPr eaLnBrk="1" hangingPunct="1">
              <a:lnSpc>
                <a:spcPct val="200000"/>
              </a:lnSpc>
            </a:pPr>
            <a:r>
              <a:rPr lang="en-US" sz="2400" b="1" i="1" smtClean="0"/>
              <a:t>Substitutions and unifiers</a:t>
            </a:r>
          </a:p>
          <a:p>
            <a:pPr eaLnBrk="1" hangingPunct="1">
              <a:lnSpc>
                <a:spcPct val="200000"/>
              </a:lnSpc>
            </a:pPr>
            <a:r>
              <a:rPr lang="en-US" sz="2400" b="1" i="1" smtClean="0"/>
              <a:t>Resolution formal system</a:t>
            </a:r>
          </a:p>
          <a:p>
            <a:pPr eaLnBrk="1" hangingPunct="1">
              <a:lnSpc>
                <a:spcPct val="200000"/>
              </a:lnSpc>
            </a:pPr>
            <a:r>
              <a:rPr lang="en-US" sz="2400" b="1" i="1" smtClean="0"/>
              <a:t>Refinements of predicate resolution</a:t>
            </a:r>
          </a:p>
          <a:p>
            <a:pPr eaLnBrk="1" hangingPunct="1"/>
            <a:endParaRPr lang="ro-RO" sz="2400" b="1" i="1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547687"/>
          </a:xfrm>
        </p:spPr>
        <p:txBody>
          <a:bodyPr/>
          <a:lstStyle/>
          <a:p>
            <a:r>
              <a:rPr lang="en-US" sz="2400" b="1" smtClean="0"/>
              <a:t>Prenex normal form</a:t>
            </a:r>
          </a:p>
        </p:txBody>
      </p:sp>
      <p:pic>
        <p:nvPicPr>
          <p:cNvPr id="409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838200"/>
            <a:ext cx="8077200" cy="5410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1038225" y="762000"/>
            <a:ext cx="8105775" cy="1081088"/>
          </a:xfrm>
        </p:spPr>
        <p:txBody>
          <a:bodyPr/>
          <a:lstStyle/>
          <a:p>
            <a:r>
              <a:rPr lang="en-US" sz="2800" b="1" smtClean="0"/>
              <a:t>Extraction of quantifiers</a:t>
            </a:r>
            <a:br>
              <a:rPr lang="en-US" sz="2800" b="1" smtClean="0"/>
            </a:br>
            <a:r>
              <a:rPr lang="en-US" sz="2800" b="1" smtClean="0"/>
              <a:t>                                 in front of the formula</a:t>
            </a:r>
            <a:r>
              <a:rPr lang="en-US" sz="2800" smtClean="0"/>
              <a:t/>
            </a:r>
            <a:br>
              <a:rPr lang="en-US" sz="2800" smtClean="0"/>
            </a:br>
            <a:endParaRPr lang="en-US" sz="2800" smtClean="0"/>
          </a:p>
        </p:txBody>
      </p:sp>
      <p:pic>
        <p:nvPicPr>
          <p:cNvPr id="512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981200"/>
            <a:ext cx="7772400" cy="3505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350963" y="0"/>
            <a:ext cx="7793037" cy="700088"/>
          </a:xfrm>
        </p:spPr>
        <p:txBody>
          <a:bodyPr/>
          <a:lstStyle/>
          <a:p>
            <a:r>
              <a:rPr lang="en-US" sz="2800" b="1" smtClean="0"/>
              <a:t>Skolem and clausal normal forms</a:t>
            </a:r>
          </a:p>
        </p:txBody>
      </p:sp>
      <p:pic>
        <p:nvPicPr>
          <p:cNvPr id="614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838200"/>
            <a:ext cx="8153400" cy="5562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700087"/>
          </a:xfrm>
        </p:spPr>
        <p:txBody>
          <a:bodyPr/>
          <a:lstStyle/>
          <a:p>
            <a:r>
              <a:rPr lang="en-US" sz="2800" b="1" smtClean="0"/>
              <a:t>Theoretical results</a:t>
            </a:r>
          </a:p>
        </p:txBody>
      </p:sp>
      <p:sp>
        <p:nvSpPr>
          <p:cNvPr id="7171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717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43000"/>
            <a:ext cx="79248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7156"/>
            <a:ext cx="7793037" cy="471487"/>
          </a:xfrm>
        </p:spPr>
        <p:txBody>
          <a:bodyPr/>
          <a:lstStyle/>
          <a:p>
            <a:r>
              <a:rPr lang="en-US" sz="2400" b="1" dirty="0"/>
              <a:t>Example 1</a:t>
            </a:r>
            <a:r>
              <a:rPr lang="en-US" sz="2400" dirty="0"/>
              <a:t> Transform into normal forms the formula: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9810" y="1113794"/>
            <a:ext cx="4272742" cy="742722"/>
          </a:xfrm>
          <a:prstGeom prst="rect">
            <a:avLst/>
          </a:prstGeom>
        </p:spPr>
      </p:pic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800600" y="1219200"/>
            <a:ext cx="4158172" cy="685800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88053"/>
            <a:ext cx="5124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57" y="1851472"/>
            <a:ext cx="4501342" cy="7171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88" y="2662735"/>
            <a:ext cx="4459238" cy="63703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51" y="3321052"/>
            <a:ext cx="4402012" cy="97656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51" y="4289301"/>
            <a:ext cx="4436659" cy="202198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3533" y="1905000"/>
            <a:ext cx="4241261" cy="69538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9516" y="2600975"/>
            <a:ext cx="4053031" cy="6695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4897" y="3270529"/>
            <a:ext cx="4057650" cy="76080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7284" y="4031338"/>
            <a:ext cx="3952875" cy="191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46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762000" y="214313"/>
            <a:ext cx="8181975" cy="623887"/>
          </a:xfrm>
        </p:spPr>
        <p:txBody>
          <a:bodyPr/>
          <a:lstStyle/>
          <a:p>
            <a:r>
              <a:rPr lang="en-US" sz="2800" b="1" smtClean="0"/>
              <a:t>Example 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5251" y="1986165"/>
            <a:ext cx="7772400" cy="24199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1059469"/>
            <a:ext cx="8305800" cy="9239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4406479"/>
            <a:ext cx="7796213" cy="20682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471487"/>
          </a:xfrm>
        </p:spPr>
        <p:txBody>
          <a:bodyPr/>
          <a:lstStyle/>
          <a:p>
            <a:r>
              <a:rPr lang="en-US" sz="2800" b="1" smtClean="0"/>
              <a:t>Substitutions</a:t>
            </a:r>
          </a:p>
        </p:txBody>
      </p:sp>
      <p:pic>
        <p:nvPicPr>
          <p:cNvPr id="1024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914400"/>
            <a:ext cx="7924800" cy="5410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471487"/>
          </a:xfrm>
        </p:spPr>
        <p:txBody>
          <a:bodyPr/>
          <a:lstStyle/>
          <a:p>
            <a:r>
              <a:rPr lang="en-US" sz="2800" b="1" smtClean="0"/>
              <a:t>Substitutions and unifiers</a:t>
            </a:r>
          </a:p>
        </p:txBody>
      </p:sp>
      <p:sp>
        <p:nvSpPr>
          <p:cNvPr id="11267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1126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838200"/>
            <a:ext cx="80010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309687"/>
          </a:xfrm>
        </p:spPr>
        <p:txBody>
          <a:bodyPr/>
          <a:lstStyle/>
          <a:p>
            <a:r>
              <a:rPr lang="en-US" sz="2800" b="1" smtClean="0"/>
              <a:t>Example 3</a:t>
            </a:r>
          </a:p>
        </p:txBody>
      </p:sp>
      <p:pic>
        <p:nvPicPr>
          <p:cNvPr id="1229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1981200"/>
            <a:ext cx="7315200" cy="3886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776287"/>
          </a:xfrm>
        </p:spPr>
        <p:txBody>
          <a:bodyPr/>
          <a:lstStyle/>
          <a:p>
            <a:r>
              <a:rPr lang="en-GB" sz="2000" b="1" i="1" smtClean="0"/>
              <a:t>Algorithm for computing the mgu of two literals </a:t>
            </a:r>
            <a:r>
              <a:rPr lang="en-US" sz="2000" b="1" smtClean="0"/>
              <a:t/>
            </a:r>
            <a:br>
              <a:rPr lang="en-US" sz="2000" b="1" smtClean="0"/>
            </a:br>
            <a:endParaRPr lang="en-US" sz="2000" b="1" smtClean="0"/>
          </a:p>
        </p:txBody>
      </p:sp>
      <p:pic>
        <p:nvPicPr>
          <p:cNvPr id="1331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955249"/>
            <a:ext cx="8001000" cy="53340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793037" cy="547687"/>
          </a:xfrm>
        </p:spPr>
        <p:txBody>
          <a:bodyPr/>
          <a:lstStyle/>
          <a:p>
            <a:r>
              <a:rPr lang="en-US" sz="2400" b="1" dirty="0"/>
              <a:t>Example 4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914400"/>
            <a:ext cx="8555037" cy="564138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905000"/>
            <a:ext cx="1904999" cy="11936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117" y="1905000"/>
            <a:ext cx="3693622" cy="1630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1" y="3948782"/>
            <a:ext cx="3713164" cy="21130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3948782"/>
            <a:ext cx="3657601" cy="235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8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838200" y="214313"/>
            <a:ext cx="8105775" cy="547687"/>
          </a:xfrm>
        </p:spPr>
        <p:txBody>
          <a:bodyPr/>
          <a:lstStyle/>
          <a:p>
            <a:r>
              <a:rPr lang="en-US" sz="2800" b="1" smtClean="0"/>
              <a:t>Example 5</a:t>
            </a:r>
          </a:p>
        </p:txBody>
      </p:sp>
      <p:pic>
        <p:nvPicPr>
          <p:cNvPr id="1536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914400"/>
            <a:ext cx="8077200" cy="53340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838200" y="214313"/>
            <a:ext cx="8105775" cy="1081087"/>
          </a:xfrm>
        </p:spPr>
        <p:txBody>
          <a:bodyPr/>
          <a:lstStyle/>
          <a:p>
            <a:r>
              <a:rPr lang="en-US" sz="2800" smtClean="0">
                <a:latin typeface="Aharoni" pitchFamily="2" charset="-79"/>
                <a:cs typeface="Aharoni" pitchFamily="2" charset="-79"/>
              </a:rPr>
              <a:t>Predicate resolution </a:t>
            </a:r>
            <a:br>
              <a:rPr lang="en-US" sz="2800" smtClean="0">
                <a:latin typeface="Aharoni" pitchFamily="2" charset="-79"/>
                <a:cs typeface="Aharoni" pitchFamily="2" charset="-79"/>
              </a:rPr>
            </a:br>
            <a:r>
              <a:rPr lang="en-US" sz="2800" smtClean="0">
                <a:latin typeface="Aharoni" pitchFamily="2" charset="-79"/>
                <a:cs typeface="Aharoni" pitchFamily="2" charset="-79"/>
              </a:rPr>
              <a:t>		- </a:t>
            </a:r>
            <a:r>
              <a:rPr lang="en-US" sz="2800" u="sng" smtClean="0">
                <a:latin typeface="Aharoni" pitchFamily="2" charset="-79"/>
                <a:cs typeface="Aharoni" pitchFamily="2" charset="-79"/>
              </a:rPr>
              <a:t>formal (axiomatic system) </a:t>
            </a:r>
            <a:r>
              <a:rPr lang="en-US" sz="2800" smtClean="0">
                <a:latin typeface="Aharoni" pitchFamily="2" charset="-79"/>
                <a:cs typeface="Aharoni" pitchFamily="2" charset="-79"/>
              </a:rPr>
              <a:t>-</a:t>
            </a:r>
          </a:p>
        </p:txBody>
      </p:sp>
      <p:pic>
        <p:nvPicPr>
          <p:cNvPr id="1638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371600"/>
            <a:ext cx="7924800" cy="5029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762000" y="214313"/>
            <a:ext cx="8181975" cy="623887"/>
          </a:xfrm>
        </p:spPr>
        <p:txBody>
          <a:bodyPr/>
          <a:lstStyle/>
          <a:p>
            <a:r>
              <a:rPr lang="en-US" sz="2800" b="1" smtClean="0"/>
              <a:t>Definitions</a:t>
            </a:r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914400"/>
            <a:ext cx="8153400" cy="5562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547687"/>
          </a:xfrm>
        </p:spPr>
        <p:txBody>
          <a:bodyPr/>
          <a:lstStyle/>
          <a:p>
            <a:r>
              <a:rPr lang="en-US" sz="2200" b="1" u="sng" smtClean="0"/>
              <a:t>Algorithm:</a:t>
            </a:r>
            <a:r>
              <a:rPr lang="en-US" sz="2200" b="1" smtClean="0"/>
              <a:t> </a:t>
            </a:r>
            <a:r>
              <a:rPr lang="en-US" sz="2200" b="1" i="1" smtClean="0"/>
              <a:t>Predicate Resolution</a:t>
            </a:r>
          </a:p>
        </p:txBody>
      </p:sp>
      <p:pic>
        <p:nvPicPr>
          <p:cNvPr id="1843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914400"/>
            <a:ext cx="7620000" cy="53340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914400" y="214313"/>
            <a:ext cx="8029575" cy="700087"/>
          </a:xfrm>
        </p:spPr>
        <p:txBody>
          <a:bodyPr/>
          <a:lstStyle/>
          <a:p>
            <a:r>
              <a:rPr lang="en-US" sz="2800" b="1" smtClean="0"/>
              <a:t>Theoretical results</a:t>
            </a:r>
          </a:p>
        </p:txBody>
      </p:sp>
      <p:sp>
        <p:nvSpPr>
          <p:cNvPr id="1945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43000"/>
            <a:ext cx="7696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852487"/>
          </a:xfrm>
        </p:spPr>
        <p:txBody>
          <a:bodyPr/>
          <a:lstStyle/>
          <a:p>
            <a:r>
              <a:rPr lang="en-US" sz="3200" dirty="0" smtClean="0"/>
              <a:t>Example 6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143000"/>
            <a:ext cx="7296150" cy="9161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803" y="2059109"/>
            <a:ext cx="6385034" cy="1143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614" y="3271860"/>
            <a:ext cx="5048541" cy="27479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630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23" y="168276"/>
            <a:ext cx="7793037" cy="700087"/>
          </a:xfrm>
        </p:spPr>
        <p:txBody>
          <a:bodyPr/>
          <a:lstStyle/>
          <a:p>
            <a:r>
              <a:rPr lang="en-US" sz="2800" b="1" dirty="0"/>
              <a:t>Example 7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54" y="868363"/>
            <a:ext cx="8258173" cy="4953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750" y="4648200"/>
            <a:ext cx="2546250" cy="19920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516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/>
              <a:t>Example </a:t>
            </a:r>
            <a:r>
              <a:rPr lang="en-US" sz="3000" b="1" dirty="0" smtClean="0"/>
              <a:t>7 (contd.)</a:t>
            </a:r>
            <a:endParaRPr lang="en-US" sz="3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90517"/>
            <a:ext cx="6621462" cy="4038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55" y="24442"/>
            <a:ext cx="2546250" cy="19920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" y="12132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205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138" y="884981"/>
            <a:ext cx="7793037" cy="562819"/>
          </a:xfrm>
        </p:spPr>
        <p:txBody>
          <a:bodyPr/>
          <a:lstStyle/>
          <a:p>
            <a:r>
              <a:rPr lang="en-US" sz="3200" b="1" dirty="0"/>
              <a:t>Example 7 (contd.)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425" y="0"/>
            <a:ext cx="2194184" cy="17165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8800"/>
            <a:ext cx="7772400" cy="46672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9420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275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838200" y="228600"/>
            <a:ext cx="8105775" cy="471487"/>
          </a:xfrm>
        </p:spPr>
        <p:txBody>
          <a:bodyPr/>
          <a:lstStyle/>
          <a:p>
            <a:r>
              <a:rPr lang="en-US" sz="2800" b="1" dirty="0" smtClean="0"/>
              <a:t>Example 8</a:t>
            </a:r>
          </a:p>
        </p:txBody>
      </p:sp>
      <p:pic>
        <p:nvPicPr>
          <p:cNvPr id="2150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993580"/>
            <a:ext cx="8001000" cy="5410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1150938" y="381000"/>
            <a:ext cx="7793037" cy="533400"/>
          </a:xfrm>
        </p:spPr>
        <p:txBody>
          <a:bodyPr/>
          <a:lstStyle/>
          <a:p>
            <a:r>
              <a:rPr lang="en-US" sz="2800" b="1" dirty="0" smtClean="0"/>
              <a:t>Example 9</a:t>
            </a:r>
          </a:p>
        </p:txBody>
      </p:sp>
      <p:pic>
        <p:nvPicPr>
          <p:cNvPr id="2253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0" y="1143000"/>
            <a:ext cx="7467600" cy="4724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762000" y="214313"/>
            <a:ext cx="8181975" cy="547687"/>
          </a:xfrm>
        </p:spPr>
        <p:txBody>
          <a:bodyPr/>
          <a:lstStyle/>
          <a:p>
            <a:r>
              <a:rPr lang="en-US" sz="2800" b="1" dirty="0" smtClean="0"/>
              <a:t>Example 9 (contd.)</a:t>
            </a:r>
          </a:p>
        </p:txBody>
      </p:sp>
      <p:sp>
        <p:nvSpPr>
          <p:cNvPr id="2355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2355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51012"/>
            <a:ext cx="8193088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838200" y="214313"/>
            <a:ext cx="8105775" cy="471487"/>
          </a:xfrm>
        </p:spPr>
        <p:txBody>
          <a:bodyPr/>
          <a:lstStyle/>
          <a:p>
            <a:r>
              <a:rPr lang="en-US" sz="2800" b="1" dirty="0" smtClean="0"/>
              <a:t>Example 9(contd.)</a:t>
            </a:r>
            <a:endParaRPr lang="en-US" sz="2800" dirty="0" smtClean="0"/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2458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868363"/>
            <a:ext cx="80010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3ED583A30E24F8919E2C8E1A2CFE0" ma:contentTypeVersion="4" ma:contentTypeDescription="Create a new document." ma:contentTypeScope="" ma:versionID="7feb08bea3aa909d016566500630529d">
  <xsd:schema xmlns:xsd="http://www.w3.org/2001/XMLSchema" xmlns:xs="http://www.w3.org/2001/XMLSchema" xmlns:p="http://schemas.microsoft.com/office/2006/metadata/properties" xmlns:ns2="84f5ebbe-e4a1-4f2d-be05-153acf23f567" targetNamespace="http://schemas.microsoft.com/office/2006/metadata/properties" ma:root="true" ma:fieldsID="01a82f6b989f4ac5c864eaf32f03f552" ns2:_="">
    <xsd:import namespace="84f5ebbe-e4a1-4f2d-be05-153acf23f5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5ebbe-e4a1-4f2d-be05-153acf23f5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F0A3873-0DAD-4751-A554-48B371497438}"/>
</file>

<file path=customXml/itemProps2.xml><?xml version="1.0" encoding="utf-8"?>
<ds:datastoreItem xmlns:ds="http://schemas.openxmlformats.org/officeDocument/2006/customXml" ds:itemID="{4326A8D1-9824-4C0A-A19C-764F2A2C0348}"/>
</file>

<file path=customXml/itemProps3.xml><?xml version="1.0" encoding="utf-8"?>
<ds:datastoreItem xmlns:ds="http://schemas.openxmlformats.org/officeDocument/2006/customXml" ds:itemID="{D1CAA828-1E49-41B9-8E90-9E88EB96FEA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6381</TotalTime>
  <Words>110</Words>
  <Application>Microsoft Office PowerPoint</Application>
  <PresentationFormat>On-screen Show (4:3)</PresentationFormat>
  <Paragraphs>33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Aharoni</vt:lpstr>
      <vt:lpstr>Calibri</vt:lpstr>
      <vt:lpstr>Tahoma</vt:lpstr>
      <vt:lpstr>Wingdings</vt:lpstr>
      <vt:lpstr>Blends</vt:lpstr>
      <vt:lpstr>Logic quotes</vt:lpstr>
      <vt:lpstr>Resolution in predicate Logic </vt:lpstr>
      <vt:lpstr>Prenex normal form</vt:lpstr>
      <vt:lpstr>Extraction of quantifiers                                  in front of the formula </vt:lpstr>
      <vt:lpstr>Skolem and clausal normal forms</vt:lpstr>
      <vt:lpstr>Theoretical results</vt:lpstr>
      <vt:lpstr>Example 1 Transform into normal forms the formula:</vt:lpstr>
      <vt:lpstr>Example 2</vt:lpstr>
      <vt:lpstr>Substitutions</vt:lpstr>
      <vt:lpstr>Substitutions and unifiers</vt:lpstr>
      <vt:lpstr>Example 3</vt:lpstr>
      <vt:lpstr>Algorithm for computing the mgu of two literals  </vt:lpstr>
      <vt:lpstr>Example 4</vt:lpstr>
      <vt:lpstr>Example 5</vt:lpstr>
      <vt:lpstr>Predicate resolution    - formal (axiomatic system) -</vt:lpstr>
      <vt:lpstr>Definitions</vt:lpstr>
      <vt:lpstr>Algorithm: Predicate Resolution</vt:lpstr>
      <vt:lpstr>Theoretical results</vt:lpstr>
      <vt:lpstr>Example 6</vt:lpstr>
      <vt:lpstr>Example 7</vt:lpstr>
      <vt:lpstr>Example 7 (contd.)</vt:lpstr>
      <vt:lpstr>Example 7 (contd.)</vt:lpstr>
      <vt:lpstr>Example 8</vt:lpstr>
      <vt:lpstr>Example 9</vt:lpstr>
      <vt:lpstr>Example 9 (contd.)</vt:lpstr>
      <vt:lpstr>Example 9(contd.)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Tableaux Method</dc:title>
  <dc:creator>Iulian Lupea</dc:creator>
  <cp:lastModifiedBy>Windows User</cp:lastModifiedBy>
  <cp:revision>116</cp:revision>
  <dcterms:created xsi:type="dcterms:W3CDTF">2017-11-03T20:27:27Z</dcterms:created>
  <dcterms:modified xsi:type="dcterms:W3CDTF">2022-11-24T16:38:42Z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0x010100FC23ED583A30E24F8919E2C8E1A2CFE0</vt:lpwstr>
  </property>
</Properties>
</file>