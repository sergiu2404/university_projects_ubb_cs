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notesMasterIdLst>
    <p:notesMasterId r:id="rId35"/>
  </p:notesMasterIdLst>
  <p:sldIdLst>
    <p:sldId id="295" r:id="rId2"/>
    <p:sldId id="256" r:id="rId3"/>
    <p:sldId id="258" r:id="rId4"/>
    <p:sldId id="281" r:id="rId5"/>
    <p:sldId id="259" r:id="rId6"/>
    <p:sldId id="260" r:id="rId7"/>
    <p:sldId id="257" r:id="rId8"/>
    <p:sldId id="261" r:id="rId9"/>
    <p:sldId id="262" r:id="rId10"/>
    <p:sldId id="286" r:id="rId11"/>
    <p:sldId id="264" r:id="rId12"/>
    <p:sldId id="277" r:id="rId13"/>
    <p:sldId id="290" r:id="rId14"/>
    <p:sldId id="272" r:id="rId15"/>
    <p:sldId id="273" r:id="rId16"/>
    <p:sldId id="296" r:id="rId17"/>
    <p:sldId id="274" r:id="rId18"/>
    <p:sldId id="276" r:id="rId19"/>
    <p:sldId id="287" r:id="rId20"/>
    <p:sldId id="265" r:id="rId21"/>
    <p:sldId id="266" r:id="rId22"/>
    <p:sldId id="267" r:id="rId23"/>
    <p:sldId id="292" r:id="rId24"/>
    <p:sldId id="270" r:id="rId25"/>
    <p:sldId id="300" r:id="rId26"/>
    <p:sldId id="299" r:id="rId27"/>
    <p:sldId id="271" r:id="rId28"/>
    <p:sldId id="280" r:id="rId29"/>
    <p:sldId id="293" r:id="rId30"/>
    <p:sldId id="279" r:id="rId31"/>
    <p:sldId id="278" r:id="rId32"/>
    <p:sldId id="301" r:id="rId33"/>
    <p:sldId id="283" r:id="rId3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2849" autoAdjust="0"/>
  </p:normalViewPr>
  <p:slideViewPr>
    <p:cSldViewPr>
      <p:cViewPr varScale="1">
        <p:scale>
          <a:sx n="90" d="100"/>
          <a:sy n="90" d="100"/>
        </p:scale>
        <p:origin x="9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DD2C23C6-1587-410E-9D11-210456A22052}" type="datetimeFigureOut">
              <a:rPr lang="en-US"/>
              <a:pPr>
                <a:defRPr/>
              </a:pPr>
              <a:t>11/16/2022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4FD1C73-336B-4737-A19D-5867452D2ED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9772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267FBEF-2037-4BB4-9B3B-0BEBCC98404B}" type="slidenum">
              <a:rPr lang="en-US"/>
              <a:pPr eaLnBrk="1" hangingPunct="1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4689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9559932-B637-431D-9EED-3E96CE51D839}" type="slidenum">
              <a:rPr lang="en-US"/>
              <a:pPr eaLnBrk="1" hangingPunct="1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919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22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463" y="1174750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55DA81-10FC-4DF5-A72B-69A6D700E269}" type="datetimeFigureOut">
              <a:rPr lang="en-US"/>
              <a:pPr>
                <a:defRPr/>
              </a:pPr>
              <a:t>11/16/2022</a:t>
            </a:fld>
            <a:endParaRPr lang="en-US"/>
          </a:p>
        </p:txBody>
      </p:sp>
      <p:sp>
        <p:nvSpPr>
          <p:cNvPr id="23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81475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63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fld id="{D89217EE-F022-49A6-9CCC-2E25D7D35F3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0947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5B3CFA35-A6A7-4AC5-90B8-AA4C7DBDD978}" type="datetimeFigureOut">
              <a:rPr lang="en-US"/>
              <a:pPr>
                <a:defRPr/>
              </a:pPr>
              <a:t>11/16/2022</a:t>
            </a:fld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61F1B40-EAFC-4D19-B5FC-7FB7F66013A3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825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Oval 13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Oval 14"/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Oval 15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2875" y="1169988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91A62D-3E96-4C9A-9239-8A4484E4B690}" type="datetimeFigureOut">
              <a:rPr lang="en-US"/>
              <a:pPr>
                <a:defRPr/>
              </a:pPr>
              <a:t>11/16/2022</a:t>
            </a:fld>
            <a:endParaRPr lang="en-US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78300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39850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fld id="{104B83F9-AA4F-44D9-B334-56FEA9091FB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4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03D938-04A3-40CB-9716-F308B1BCC89F}" type="datetimeFigureOut">
              <a:rPr lang="en-US"/>
              <a:pPr>
                <a:defRPr/>
              </a:pPr>
              <a:t>11/16/2022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5E0B9F-F19E-4858-A80E-05C003843C0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48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CE85C0-0844-4119-8EBD-2DD3A51934BB}" type="datetimeFigureOut">
              <a:rPr lang="en-US"/>
              <a:pPr>
                <a:defRPr/>
              </a:pPr>
              <a:t>11/16/2022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E60741-43D9-4E2E-A953-FC2C78E8109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970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BDCBED1A-4EA9-4F96-A65C-5CE239EB5E38}" type="datetimeFigureOut">
              <a:rPr lang="en-US"/>
              <a:pPr>
                <a:defRPr/>
              </a:pPr>
              <a:t>11/16/2022</a:t>
            </a:fld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2E3D1FF-0C16-4EE6-9420-CFB05765F25C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4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221F59-80E1-43D9-AE6F-B2179A4F5570}" type="datetimeFigureOut">
              <a:rPr lang="en-US"/>
              <a:pPr>
                <a:defRPr/>
              </a:pPr>
              <a:t>11/16/2022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4AF863-9B36-4088-9B56-1544ED608F6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60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6" name="Straight Connector 5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2" name="Date Placeholder 20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F7CEB7A5-D102-4F5F-A919-B1BF3271C620}" type="datetimeFigureOut">
              <a:rPr lang="en-US"/>
              <a:pPr>
                <a:defRPr/>
              </a:pPr>
              <a:t>11/16/2022</a:t>
            </a:fld>
            <a:endParaRPr lang="en-US"/>
          </a:p>
        </p:txBody>
      </p:sp>
      <p:sp>
        <p:nvSpPr>
          <p:cNvPr id="13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7DE1973-373A-4F12-BB81-C38E40CD5E9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4" name="Footer Placeholder 22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49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1A724E1B-96BF-4197-988B-A17ACF8DE60E}" type="datetimeFigureOut">
              <a:rPr lang="en-US"/>
              <a:pPr>
                <a:defRPr/>
              </a:pPr>
              <a:t>11/16/2022</a:t>
            </a:fld>
            <a:endParaRPr lang="en-US"/>
          </a:p>
        </p:txBody>
      </p:sp>
      <p:sp>
        <p:nvSpPr>
          <p:cNvPr id="13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8D2E09A-90CC-4AB5-B8CB-A85A65FA14D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4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706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2CC246-D360-49CE-BF82-E2569ED533D5}" type="datetimeFigureOut">
              <a:rPr lang="en-US"/>
              <a:pPr>
                <a:defRPr/>
              </a:pPr>
              <a:t>11/16/2022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9AD42-98AD-44AA-8E5F-86574342086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024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B46EDA-2188-4A84-91B8-1D0B746CB9A7}" type="datetimeFigureOut">
              <a:rPr lang="en-US"/>
              <a:pPr>
                <a:defRPr/>
              </a:pPr>
              <a:t>11/16/2022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48E7DF-E7DD-4E67-8CFE-3D557EC408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95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2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228C5F2-2984-4CCB-8204-ACA75012E8DF}" type="datetimeFigureOut">
              <a:rPr lang="en-US"/>
              <a:pPr>
                <a:defRPr/>
              </a:pPr>
              <a:t>11/16/2022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400" b="1">
                <a:solidFill>
                  <a:srgbClr val="FFFFFF"/>
                </a:solidFill>
                <a:latin typeface="Century Schoolbook" panose="02040604050505020304" pitchFamily="18" charset="0"/>
              </a:defRPr>
            </a:lvl1pPr>
          </a:lstStyle>
          <a:p>
            <a:fld id="{ACB5B500-9B4D-4C63-8CDA-CFFBF09EC37B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9" r:id="rId1"/>
    <p:sldLayoutId id="2147484000" r:id="rId2"/>
    <p:sldLayoutId id="2147484001" r:id="rId3"/>
    <p:sldLayoutId id="2147483994" r:id="rId4"/>
    <p:sldLayoutId id="2147483995" r:id="rId5"/>
    <p:sldLayoutId id="2147484002" r:id="rId6"/>
    <p:sldLayoutId id="2147483996" r:id="rId7"/>
    <p:sldLayoutId id="2147484003" r:id="rId8"/>
    <p:sldLayoutId id="2147484004" r:id="rId9"/>
    <p:sldLayoutId id="2147483997" r:id="rId10"/>
    <p:sldLayoutId id="2147483998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 cap="small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eaLnBrk="0" fontAlgn="base" hangingPunct="0">
        <a:spcBef>
          <a:spcPct val="20000"/>
        </a:spcBef>
        <a:spcAft>
          <a:spcPct val="0"/>
        </a:spcAft>
        <a:buClr>
          <a:srgbClr val="E0752F"/>
        </a:buClr>
        <a:buSzPct val="6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eaLnBrk="0" fontAlgn="base" hangingPunct="0">
        <a:spcBef>
          <a:spcPct val="20000"/>
        </a:spcBef>
        <a:spcAft>
          <a:spcPct val="0"/>
        </a:spcAft>
        <a:buClr>
          <a:srgbClr val="FEC3AE"/>
        </a:buClr>
        <a:buSzPct val="60000"/>
        <a:buFont typeface="Wingdings" panose="05000000000000000000" pitchFamily="2" charset="2"/>
        <a:buChar char="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eaLnBrk="0" fontAlgn="base" hangingPunct="0">
        <a:spcBef>
          <a:spcPct val="20000"/>
        </a:spcBef>
        <a:spcAft>
          <a:spcPct val="0"/>
        </a:spcAft>
        <a:buClr>
          <a:srgbClr val="BDCAE9"/>
        </a:buClr>
        <a:buSzPct val="68000"/>
        <a:buFont typeface="Wingdings 2" panose="05020102010507070707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441" y="26375"/>
            <a:ext cx="5281118" cy="68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540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1905000"/>
            <a:ext cx="61722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Resolution Proof Method</a:t>
            </a:r>
            <a:endParaRPr lang="en-US" dirty="0"/>
          </a:p>
        </p:txBody>
      </p:sp>
      <p:sp>
        <p:nvSpPr>
          <p:cNvPr id="8195" name="Subtitle 2"/>
          <p:cNvSpPr>
            <a:spLocks noGrp="1"/>
          </p:cNvSpPr>
          <p:nvPr>
            <p:ph type="subTitle" idx="1"/>
          </p:nvPr>
        </p:nvSpPr>
        <p:spPr>
          <a:xfrm>
            <a:off x="2286000" y="3505200"/>
            <a:ext cx="6172200" cy="1371600"/>
          </a:xfrm>
        </p:spPr>
        <p:txBody>
          <a:bodyPr/>
          <a:lstStyle/>
          <a:p>
            <a:pPr eaLnBrk="1" hangingPunct="1"/>
            <a:r>
              <a:rPr lang="en-US" sz="2400" smtClean="0"/>
              <a:t>IN  PROPOSITIONAL  LOGIC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68362"/>
          </a:xfrm>
        </p:spPr>
        <p:txBody>
          <a:bodyPr/>
          <a:lstStyle/>
          <a:p>
            <a:pPr eaLnBrk="1" hangingPunct="1">
              <a:defRPr/>
            </a:pPr>
            <a:r>
              <a:rPr lang="en-US" b="1" u="sng" dirty="0" smtClean="0"/>
              <a:t>Resolution Proof Method</a:t>
            </a:r>
            <a:endParaRPr lang="en-US" b="1" u="sng" dirty="0"/>
          </a:p>
        </p:txBody>
      </p:sp>
      <p:sp>
        <p:nvSpPr>
          <p:cNvPr id="9219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305800" cy="4724400"/>
          </a:xfrm>
        </p:spPr>
        <p:txBody>
          <a:bodyPr/>
          <a:lstStyle/>
          <a:p>
            <a:pPr eaLnBrk="1" hangingPunct="1"/>
            <a:r>
              <a:rPr lang="en-US" sz="2200" smtClean="0">
                <a:latin typeface="Tahoma" panose="020B0604030504040204" pitchFamily="34" charset="0"/>
                <a:cs typeface="Tahoma" panose="020B0604030504040204" pitchFamily="34" charset="0"/>
              </a:rPr>
              <a:t>It was proposed by  J.A. Robinson in 1965 as a proof method for classical logics</a:t>
            </a:r>
          </a:p>
          <a:p>
            <a:pPr eaLnBrk="1" hangingPunct="1"/>
            <a:endParaRPr lang="en-US" sz="500" b="1" smtClean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en-US" sz="2200" smtClean="0">
                <a:latin typeface="Tahoma" panose="020B0604030504040204" pitchFamily="34" charset="0"/>
                <a:cs typeface="Tahoma" panose="020B0604030504040204" pitchFamily="34" charset="0"/>
              </a:rPr>
              <a:t>Dedicated theorem provers based on resolution: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200" smtClean="0">
                <a:latin typeface="Tahoma" panose="020B0604030504040204" pitchFamily="34" charset="0"/>
                <a:cs typeface="Tahoma" panose="020B0604030504040204" pitchFamily="34" charset="0"/>
              </a:rPr>
              <a:t>                                   </a:t>
            </a:r>
            <a:r>
              <a:rPr lang="en-US" sz="2200" b="1" smtClean="0">
                <a:latin typeface="Tahoma" panose="020B0604030504040204" pitchFamily="34" charset="0"/>
                <a:cs typeface="Tahoma" panose="020B0604030504040204" pitchFamily="34" charset="0"/>
              </a:rPr>
              <a:t>OTTER, PCPROOVE, AMPHION, Jape</a:t>
            </a:r>
          </a:p>
          <a:p>
            <a:pPr eaLnBrk="1" hangingPunct="1"/>
            <a:endParaRPr lang="en-US" sz="500" smtClean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en-US" sz="2200" smtClean="0">
                <a:latin typeface="Tahoma" panose="020B0604030504040204" pitchFamily="34" charset="0"/>
                <a:cs typeface="Tahoma" panose="020B0604030504040204" pitchFamily="34" charset="0"/>
              </a:rPr>
              <a:t>It was easily adapted to </a:t>
            </a:r>
            <a:r>
              <a:rPr lang="en-US" sz="2200" i="1" smtClean="0">
                <a:latin typeface="Tahoma" panose="020B0604030504040204" pitchFamily="34" charset="0"/>
                <a:cs typeface="Tahoma" panose="020B0604030504040204" pitchFamily="34" charset="0"/>
              </a:rPr>
              <a:t>nonstandard logics</a:t>
            </a:r>
            <a:r>
              <a:rPr lang="en-US" sz="2200" smtClean="0">
                <a:latin typeface="Tahoma" panose="020B0604030504040204" pitchFamily="34" charset="0"/>
                <a:cs typeface="Tahoma" panose="020B0604030504040204" pitchFamily="34" charset="0"/>
              </a:rPr>
              <a:t> (modal, temporal, many-valued, non-monotonic).</a:t>
            </a:r>
          </a:p>
          <a:p>
            <a:pPr eaLnBrk="1" hangingPunct="1"/>
            <a:endParaRPr lang="en-US" sz="500" smtClean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en-US" sz="2200" smtClean="0">
                <a:latin typeface="Tahoma" panose="020B0604030504040204" pitchFamily="34" charset="0"/>
                <a:cs typeface="Tahoma" panose="020B0604030504040204" pitchFamily="34" charset="0"/>
              </a:rPr>
              <a:t>Its basic aim is to check the </a:t>
            </a:r>
            <a:r>
              <a:rPr lang="en-US" sz="2200" b="1" i="1" smtClean="0">
                <a:latin typeface="Tahoma" panose="020B0604030504040204" pitchFamily="34" charset="0"/>
                <a:cs typeface="Tahoma" panose="020B0604030504040204" pitchFamily="34" charset="0"/>
              </a:rPr>
              <a:t>consistency/inconsistency</a:t>
            </a:r>
            <a:r>
              <a:rPr lang="en-US" sz="2200" smtClean="0">
                <a:latin typeface="Tahoma" panose="020B0604030504040204" pitchFamily="34" charset="0"/>
                <a:cs typeface="Tahoma" panose="020B0604030504040204" pitchFamily="34" charset="0"/>
              </a:rPr>
              <a:t>     of a set of clauses.</a:t>
            </a:r>
          </a:p>
          <a:p>
            <a:pPr eaLnBrk="1" hangingPunct="1"/>
            <a:endParaRPr lang="en-US" sz="500" smtClean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en-US" sz="2200" smtClean="0">
                <a:latin typeface="Tahoma" panose="020B0604030504040204" pitchFamily="34" charset="0"/>
                <a:cs typeface="Tahoma" panose="020B0604030504040204" pitchFamily="34" charset="0"/>
              </a:rPr>
              <a:t>It is based on syntactic considerations =&gt; </a:t>
            </a:r>
            <a:r>
              <a:rPr lang="en-US" sz="2200" b="1" i="1" smtClean="0">
                <a:latin typeface="Tahoma" panose="020B0604030504040204" pitchFamily="34" charset="0"/>
                <a:cs typeface="Tahoma" panose="020B0604030504040204" pitchFamily="34" charset="0"/>
              </a:rPr>
              <a:t>syntactic method</a:t>
            </a:r>
          </a:p>
          <a:p>
            <a:pPr eaLnBrk="1" hangingPunct="1"/>
            <a:endParaRPr lang="en-US" sz="500" b="1" i="1" smtClean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en-GB" sz="2200" smtClean="0">
                <a:latin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GB" sz="2200" b="1" i="1" smtClean="0">
                <a:latin typeface="Tahoma" panose="020B0604030504040204" pitchFamily="34" charset="0"/>
                <a:cs typeface="Tahoma" panose="020B0604030504040204" pitchFamily="34" charset="0"/>
              </a:rPr>
              <a:t>validity</a:t>
            </a:r>
            <a:r>
              <a:rPr lang="en-GB" sz="2200" smtClean="0">
                <a:latin typeface="Tahoma" panose="020B0604030504040204" pitchFamily="34" charset="0"/>
                <a:cs typeface="Tahoma" panose="020B0604030504040204" pitchFamily="34" charset="0"/>
              </a:rPr>
              <a:t> of a formula </a:t>
            </a:r>
            <a:r>
              <a:rPr lang="en-GB" sz="2200" b="1" smtClean="0">
                <a:latin typeface="Tahoma" panose="020B0604030504040204" pitchFamily="34" charset="0"/>
                <a:cs typeface="Tahoma" panose="020B0604030504040204" pitchFamily="34" charset="0"/>
              </a:rPr>
              <a:t>is proved by contradiction</a:t>
            </a:r>
            <a:r>
              <a:rPr lang="en-GB" sz="2200" smtClean="0">
                <a:latin typeface="Tahoma" panose="020B0604030504040204" pitchFamily="34" charset="0"/>
                <a:cs typeface="Tahoma" panose="020B0604030504040204" pitchFamily="34" charset="0"/>
              </a:rPr>
              <a:t>=&gt;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sz="2200" b="1" i="1" smtClean="0">
                <a:latin typeface="Tahoma" panose="020B0604030504040204" pitchFamily="34" charset="0"/>
                <a:cs typeface="Tahoma" panose="020B0604030504040204" pitchFamily="34" charset="0"/>
              </a:rPr>
              <a:t>                                                     </a:t>
            </a:r>
            <a:r>
              <a:rPr lang="en-GB" sz="2200" smtClean="0">
                <a:latin typeface="Tahoma" panose="020B0604030504040204" pitchFamily="34" charset="0"/>
                <a:cs typeface="Tahoma" panose="020B0604030504040204" pitchFamily="34" charset="0"/>
              </a:rPr>
              <a:t>=&gt;</a:t>
            </a:r>
            <a:r>
              <a:rPr lang="en-GB" sz="2200" b="1" i="1" smtClean="0">
                <a:latin typeface="Tahoma" panose="020B0604030504040204" pitchFamily="34" charset="0"/>
                <a:cs typeface="Tahoma" panose="020B0604030504040204" pitchFamily="34" charset="0"/>
              </a:rPr>
              <a:t> refutation method</a:t>
            </a:r>
          </a:p>
          <a:p>
            <a:pPr eaLnBrk="1" hangingPunct="1"/>
            <a:endParaRPr lang="en-US" sz="2200" smtClean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1747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7696200" cy="914400"/>
          </a:xfrm>
        </p:spPr>
        <p:txBody>
          <a:bodyPr/>
          <a:lstStyle/>
          <a:p>
            <a:pPr>
              <a:defRPr/>
            </a:pPr>
            <a:r>
              <a:rPr lang="en-US" sz="2200" b="1" u="sng" smtClean="0"/>
              <a:t>DECISION PROBLEMS</a:t>
            </a:r>
            <a:r>
              <a:rPr lang="en-US" sz="2200" smtClean="0"/>
              <a:t> </a:t>
            </a:r>
            <a:r>
              <a:rPr lang="en-US" sz="2200" b="1" smtClean="0"/>
              <a:t>IN</a:t>
            </a:r>
            <a:r>
              <a:rPr lang="en-US" sz="2200" smtClean="0"/>
              <a:t/>
            </a:r>
            <a:br>
              <a:rPr lang="en-US" sz="2200" smtClean="0"/>
            </a:br>
            <a:r>
              <a:rPr lang="en-US" sz="2200" smtClean="0"/>
              <a:t>	        </a:t>
            </a:r>
            <a:r>
              <a:rPr lang="en-US" sz="2200" b="1" u="sng" smtClean="0"/>
              <a:t> PROPOSITIONAL/PREDICATE LOGIC</a:t>
            </a:r>
          </a:p>
        </p:txBody>
      </p:sp>
      <p:sp>
        <p:nvSpPr>
          <p:cNvPr id="10243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1024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0574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24800" cy="102076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b="1" i="1" u="sng" dirty="0" smtClean="0"/>
              <a:t>Resolution method </a:t>
            </a:r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- </a:t>
            </a:r>
            <a:r>
              <a:rPr lang="en-US" b="1" dirty="0" smtClean="0"/>
              <a:t>formal system for propositional logic -</a:t>
            </a:r>
            <a:endParaRPr lang="en-US" dirty="0"/>
          </a:p>
        </p:txBody>
      </p:sp>
      <p:pic>
        <p:nvPicPr>
          <p:cNvPr id="1126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447800"/>
            <a:ext cx="7620000" cy="47244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6087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pPr eaLnBrk="1" hangingPunct="1">
              <a:defRPr/>
            </a:pPr>
            <a:r>
              <a:rPr lang="en-US" b="1" u="sng" dirty="0" smtClean="0"/>
              <a:t>Definitions</a:t>
            </a:r>
            <a:endParaRPr lang="en-US" b="1" u="sng" dirty="0"/>
          </a:p>
        </p:txBody>
      </p:sp>
      <p:sp>
        <p:nvSpPr>
          <p:cNvPr id="12291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1229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143000"/>
            <a:ext cx="78486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736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01000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i="1" u="sng" dirty="0" smtClean="0"/>
              <a:t>Algorithm</a:t>
            </a:r>
            <a:r>
              <a:rPr lang="en-US" sz="2400" b="1" u="sng" dirty="0" smtClean="0"/>
              <a:t>:</a:t>
            </a:r>
            <a:r>
              <a:rPr lang="en-US" sz="2400" b="1" i="1" dirty="0" smtClean="0"/>
              <a:t> </a:t>
            </a:r>
            <a:r>
              <a:rPr lang="en-US" sz="2400" b="1" dirty="0" err="1" smtClean="0"/>
              <a:t>General_propositional_resolution</a:t>
            </a:r>
            <a:r>
              <a:rPr lang="en-US" sz="2400" b="1" dirty="0" smtClean="0"/>
              <a:t/>
            </a:r>
            <a:br>
              <a:rPr lang="en-US" sz="2400" b="1" dirty="0" smtClean="0"/>
            </a:br>
            <a:endParaRPr lang="en-US" sz="2400" b="1" dirty="0"/>
          </a:p>
        </p:txBody>
      </p:sp>
      <p:pic>
        <p:nvPicPr>
          <p:cNvPr id="1331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1219200"/>
            <a:ext cx="7391400" cy="5029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 smtClean="0"/>
              <a:t>Theoretical Results</a:t>
            </a:r>
            <a:endParaRPr lang="en-US" b="1" dirty="0"/>
          </a:p>
        </p:txBody>
      </p:sp>
      <p:pic>
        <p:nvPicPr>
          <p:cNvPr id="14339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676400"/>
            <a:ext cx="8305800" cy="40386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9088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077200" cy="86836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ro-RO" b="1" u="sng" dirty="0" smtClean="0"/>
              <a:t>Resolution</a:t>
            </a:r>
            <a:r>
              <a:rPr lang="ro-RO" dirty="0" smtClean="0"/>
              <a:t> </a:t>
            </a:r>
            <a:r>
              <a:rPr lang="en-US" dirty="0" smtClean="0"/>
              <a:t>-</a:t>
            </a:r>
            <a:r>
              <a:rPr lang="ro-RO" dirty="0" smtClean="0"/>
              <a:t> </a:t>
            </a:r>
            <a:r>
              <a:rPr lang="ro-RO" b="1" dirty="0" smtClean="0"/>
              <a:t>a refutation </a:t>
            </a:r>
            <a:r>
              <a:rPr lang="en-US" b="1" dirty="0" smtClean="0"/>
              <a:t>Proof </a:t>
            </a:r>
            <a:r>
              <a:rPr lang="ro-RO" b="1" dirty="0" smtClean="0"/>
              <a:t>method </a:t>
            </a:r>
            <a:endParaRPr lang="en-US" b="1" dirty="0"/>
          </a:p>
        </p:txBody>
      </p:sp>
      <p:pic>
        <p:nvPicPr>
          <p:cNvPr id="1536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3900" y="1447800"/>
            <a:ext cx="7848600" cy="45720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287" y="9088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11162"/>
          </a:xfrm>
        </p:spPr>
        <p:txBody>
          <a:bodyPr>
            <a:normAutofit fontScale="90000"/>
          </a:bodyPr>
          <a:lstStyle/>
          <a:p>
            <a:r>
              <a:rPr lang="en-US" sz="3200" b="1" u="sng" dirty="0"/>
              <a:t>Example 1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12" y="2895600"/>
            <a:ext cx="8229600" cy="57944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712" y="685800"/>
            <a:ext cx="7685088" cy="20383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475046"/>
            <a:ext cx="3414713" cy="8444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0789" y="3455553"/>
            <a:ext cx="4022505" cy="8444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9912" y="4270611"/>
            <a:ext cx="5029200" cy="9351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5486400"/>
            <a:ext cx="8141837" cy="84744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287" y="9088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477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24800" cy="124936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ro-RO" sz="3100" b="1" u="sng" dirty="0" smtClean="0"/>
              <a:t>Theorem</a:t>
            </a:r>
            <a:r>
              <a:rPr lang="ro-RO" sz="3100" b="1" dirty="0" smtClean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</a:t>
            </a:r>
            <a:r>
              <a:rPr lang="ro-RO" sz="2700" b="1" dirty="0" smtClean="0"/>
              <a:t>(based on Davis-Putman procedure)</a:t>
            </a:r>
            <a:r>
              <a:rPr lang="en-US" sz="2700" b="1" dirty="0" smtClean="0"/>
              <a:t/>
            </a:r>
            <a:br>
              <a:rPr lang="en-US" sz="2700" b="1" dirty="0" smtClean="0"/>
            </a:br>
            <a:endParaRPr lang="en-US" sz="27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1802" y="69056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25" y="1530991"/>
            <a:ext cx="8029575" cy="3533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sz="2600" b="1" dirty="0" smtClean="0"/>
              <a:t>Example 2. Modeling reasoning</a:t>
            </a:r>
            <a:endParaRPr lang="en-US" sz="26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Content Placeholder 7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4983692" y="1143000"/>
            <a:ext cx="3657600" cy="33909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76867"/>
            <a:ext cx="4543425" cy="5314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563562"/>
          </a:xfrm>
        </p:spPr>
        <p:txBody>
          <a:bodyPr>
            <a:normAutofit/>
          </a:bodyPr>
          <a:lstStyle/>
          <a:p>
            <a:r>
              <a:rPr lang="en-US" sz="2400" b="1" dirty="0"/>
              <a:t>Example 2</a:t>
            </a:r>
            <a:r>
              <a:rPr lang="en-US" sz="2400" b="1" dirty="0" smtClean="0"/>
              <a:t> – general Resolution(contd.)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838200"/>
            <a:ext cx="4038600" cy="36099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814387"/>
            <a:ext cx="4191000" cy="3657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4570412"/>
            <a:ext cx="830580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581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01000" cy="715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800" b="1" dirty="0" smtClean="0"/>
              <a:t>Strategies and Refinements of Resolution</a:t>
            </a:r>
            <a:endParaRPr lang="en-US" sz="2800" b="1" dirty="0"/>
          </a:p>
        </p:txBody>
      </p:sp>
      <p:sp>
        <p:nvSpPr>
          <p:cNvPr id="18435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95400"/>
            <a:ext cx="8001000" cy="5178425"/>
          </a:xfrm>
        </p:spPr>
        <p:txBody>
          <a:bodyPr/>
          <a:lstStyle/>
          <a:p>
            <a:r>
              <a:rPr lang="en-GB" b="1" smtClean="0"/>
              <a:t>Strategies:</a:t>
            </a:r>
          </a:p>
          <a:p>
            <a:pPr lvl="1"/>
            <a:r>
              <a:rPr lang="en-GB" smtClean="0"/>
              <a:t>assure that all the possible clauses to be derived are generated </a:t>
            </a:r>
          </a:p>
          <a:p>
            <a:pPr lvl="1"/>
            <a:r>
              <a:rPr lang="en-GB" smtClean="0"/>
              <a:t>try to avoid the derivation of redundant and irrelevant clauses in order to obtain the empty clause.</a:t>
            </a:r>
          </a:p>
          <a:p>
            <a:pPr lvl="1"/>
            <a:r>
              <a:rPr lang="en-GB" b="1" smtClean="0"/>
              <a:t>level-saturation</a:t>
            </a:r>
            <a:r>
              <a:rPr lang="en-GB" smtClean="0"/>
              <a:t> strategy, </a:t>
            </a:r>
            <a:r>
              <a:rPr lang="en-GB" b="1" smtClean="0"/>
              <a:t>deletion </a:t>
            </a:r>
            <a:r>
              <a:rPr lang="en-GB" smtClean="0"/>
              <a:t>strategy, </a:t>
            </a:r>
          </a:p>
          <a:p>
            <a:pPr lvl="1">
              <a:buFont typeface="Wingdings 2" panose="05020102010507070707" pitchFamily="18" charset="2"/>
              <a:buNone/>
            </a:pPr>
            <a:r>
              <a:rPr lang="en-GB" smtClean="0"/>
              <a:t>    </a:t>
            </a:r>
            <a:r>
              <a:rPr lang="en-GB" b="1" smtClean="0"/>
              <a:t>set-of-support</a:t>
            </a:r>
            <a:r>
              <a:rPr lang="en-GB" smtClean="0"/>
              <a:t> strategy</a:t>
            </a:r>
          </a:p>
          <a:p>
            <a:endParaRPr lang="en-GB" sz="600" b="1" smtClean="0"/>
          </a:p>
          <a:p>
            <a:r>
              <a:rPr lang="en-GB" b="1" smtClean="0"/>
              <a:t>Refinements</a:t>
            </a:r>
          </a:p>
          <a:p>
            <a:pPr lvl="1"/>
            <a:r>
              <a:rPr lang="en-US" sz="2200" smtClean="0"/>
              <a:t>make the resolution process more efficient by imposing  restrictions on the clashing clauses</a:t>
            </a:r>
          </a:p>
          <a:p>
            <a:pPr lvl="1"/>
            <a:r>
              <a:rPr lang="en-US" sz="2200" b="1" smtClean="0"/>
              <a:t>lock</a:t>
            </a:r>
            <a:r>
              <a:rPr lang="en-US" sz="2200" b="1" i="1" smtClean="0"/>
              <a:t> </a:t>
            </a:r>
            <a:r>
              <a:rPr lang="en-US" sz="2200" smtClean="0"/>
              <a:t>resolution,</a:t>
            </a:r>
            <a:r>
              <a:rPr lang="en-US" sz="2200" i="1" smtClean="0"/>
              <a:t> </a:t>
            </a:r>
            <a:r>
              <a:rPr lang="en-US" sz="2200" b="1" smtClean="0"/>
              <a:t>linear </a:t>
            </a:r>
            <a:r>
              <a:rPr lang="en-US" sz="2200" smtClean="0"/>
              <a:t>resolution</a:t>
            </a:r>
            <a:r>
              <a:rPr lang="en-US" sz="2200" i="1" smtClean="0"/>
              <a:t>,</a:t>
            </a:r>
            <a:r>
              <a:rPr lang="en-US" sz="2200" b="1" i="1" smtClean="0"/>
              <a:t> </a:t>
            </a:r>
          </a:p>
          <a:p>
            <a:pPr lvl="1">
              <a:buFont typeface="Wingdings 2" panose="05020102010507070707" pitchFamily="18" charset="2"/>
              <a:buNone/>
            </a:pPr>
            <a:r>
              <a:rPr lang="en-US" sz="2200" b="1" i="1" smtClean="0"/>
              <a:t>    </a:t>
            </a:r>
            <a:r>
              <a:rPr lang="en-US" sz="2200" b="1" smtClean="0"/>
              <a:t>semantic </a:t>
            </a:r>
            <a:r>
              <a:rPr lang="en-US" sz="2200" smtClean="0"/>
              <a:t>resolution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287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/>
          <a:lstStyle/>
          <a:p>
            <a:pPr>
              <a:defRPr/>
            </a:pPr>
            <a:r>
              <a:rPr lang="en-US" sz="2400" b="1" u="sng" dirty="0" smtClean="0"/>
              <a:t>Remarks</a:t>
            </a:r>
            <a:endParaRPr lang="en-US" sz="2400" b="1" u="sng" dirty="0"/>
          </a:p>
        </p:txBody>
      </p:sp>
      <p:sp>
        <p:nvSpPr>
          <p:cNvPr id="19459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1946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14400"/>
            <a:ext cx="8001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IMPORTANT!</a:t>
            </a: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600200"/>
            <a:ext cx="8229600" cy="2790825"/>
          </a:xfrm>
          <a:prstGeom prst="rect">
            <a:avLst/>
          </a:prstGeom>
        </p:spPr>
      </p:pic>
      <p:pic>
        <p:nvPicPr>
          <p:cNvPr id="7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76835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sz="2800" b="1" u="sng" dirty="0" smtClean="0"/>
              <a:t>Strategies of Resolution</a:t>
            </a:r>
            <a:endParaRPr lang="en-US" sz="2800" b="1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885" y="1600200"/>
            <a:ext cx="8458200" cy="23574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822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o-RO" sz="2000" b="1" i="1" u="sng" dirty="0" smtClean="0"/>
              <a:t>Algorithm</a:t>
            </a:r>
            <a:r>
              <a:rPr lang="en-US" sz="2000" b="1" dirty="0" smtClean="0"/>
              <a:t>:</a:t>
            </a:r>
            <a:r>
              <a:rPr lang="ro-RO" sz="2000" b="1" i="1" dirty="0" smtClean="0"/>
              <a:t> </a:t>
            </a:r>
            <a:r>
              <a:rPr lang="ro-RO" sz="2000" b="1" dirty="0" smtClean="0"/>
              <a:t>level-saturation-strategy</a:t>
            </a:r>
            <a:endParaRPr lang="en-US" sz="2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2580" y="699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066800"/>
            <a:ext cx="7787780" cy="54071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Example </a:t>
            </a:r>
            <a:r>
              <a:rPr lang="en-US" sz="3200" b="1" dirty="0" smtClean="0"/>
              <a:t>3</a:t>
            </a:r>
            <a:endParaRPr lang="en-US" dirty="0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14400"/>
            <a:ext cx="7485063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336646"/>
            <a:ext cx="8077200" cy="17438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1" y="3051174"/>
            <a:ext cx="4648200" cy="26472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8581" y="3027081"/>
            <a:ext cx="3462048" cy="261172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522" y="5662894"/>
            <a:ext cx="8108156" cy="83543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2580" y="699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1548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pPr eaLnBrk="1" hangingPunct="1">
              <a:defRPr/>
            </a:pPr>
            <a:r>
              <a:rPr lang="en-US" b="1" u="sng" dirty="0" smtClean="0"/>
              <a:t>Lock Resolution</a:t>
            </a:r>
            <a:endParaRPr lang="en-US" b="1" u="sng" dirty="0"/>
          </a:p>
        </p:txBody>
      </p:sp>
      <p:pic>
        <p:nvPicPr>
          <p:cNvPr id="24579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143000"/>
            <a:ext cx="8305800" cy="45720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106158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92162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 smtClean="0"/>
              <a:t>Theorems</a:t>
            </a:r>
            <a:r>
              <a:rPr lang="en-US" dirty="0" smtClean="0"/>
              <a:t> – Lock resolution</a:t>
            </a:r>
            <a:endParaRPr lang="en-US" dirty="0"/>
          </a:p>
        </p:txBody>
      </p:sp>
      <p:pic>
        <p:nvPicPr>
          <p:cNvPr id="2560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524000"/>
            <a:ext cx="8153400" cy="4267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69056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7467600" cy="8382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GB" b="1" u="sng" dirty="0" smtClean="0"/>
              <a:t>Remarks</a:t>
            </a:r>
            <a:r>
              <a:rPr lang="en-US" u="sng" dirty="0" smtClean="0"/>
              <a:t/>
            </a:r>
            <a:br>
              <a:rPr lang="en-US" u="sng" dirty="0" smtClean="0"/>
            </a:br>
            <a:endParaRPr lang="en-US" u="sng" dirty="0"/>
          </a:p>
        </p:txBody>
      </p:sp>
      <p:sp>
        <p:nvSpPr>
          <p:cNvPr id="26627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dirty="0" smtClean="0"/>
          </a:p>
        </p:txBody>
      </p:sp>
      <p:pic>
        <p:nvPicPr>
          <p:cNvPr id="2662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71600"/>
            <a:ext cx="82296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64293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Example 4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78" y="1524000"/>
            <a:ext cx="4184878" cy="48768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4876" y="1578217"/>
            <a:ext cx="3964130" cy="4768365"/>
          </a:xfrm>
          <a:prstGeom prst="rect">
            <a:avLst/>
          </a:prstGeom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914400"/>
            <a:ext cx="784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6935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 eaLnBrk="1" hangingPunct="1">
              <a:defRPr/>
            </a:pPr>
            <a:r>
              <a:rPr lang="en-US" sz="2600" b="1" u="sng" dirty="0" smtClean="0"/>
              <a:t>Example 5</a:t>
            </a:r>
            <a:endParaRPr lang="en-US" sz="2600" b="1" u="sng" dirty="0"/>
          </a:p>
        </p:txBody>
      </p:sp>
      <p:pic>
        <p:nvPicPr>
          <p:cNvPr id="2867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371600"/>
            <a:ext cx="8001000" cy="47244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r>
              <a:rPr lang="en-US" b="1" dirty="0" smtClean="0"/>
              <a:t>Example 6</a:t>
            </a:r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143000"/>
            <a:ext cx="7543800" cy="13716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9378"/>
            <a:ext cx="7620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160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Example 6 </a:t>
            </a:r>
            <a:r>
              <a:rPr lang="en-US" dirty="0" smtClean="0"/>
              <a:t>(contd.)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7400"/>
            <a:ext cx="8139113" cy="44958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51" y="823912"/>
            <a:ext cx="5715000" cy="3905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508" y="1426368"/>
            <a:ext cx="6029325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175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b="1" u="sng" dirty="0" smtClean="0"/>
              <a:t>Linear Resolution </a:t>
            </a:r>
            <a:r>
              <a:rPr lang="en-US" sz="2800" dirty="0" smtClean="0"/>
              <a:t>(Loveland 1971)</a:t>
            </a:r>
            <a:endParaRPr lang="en-US" sz="2800" dirty="0"/>
          </a:p>
        </p:txBody>
      </p:sp>
      <p:pic>
        <p:nvPicPr>
          <p:cNvPr id="3072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990600"/>
            <a:ext cx="7086600" cy="52578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1603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sz="2600" b="1" dirty="0" smtClean="0"/>
              <a:t>Theoretical results</a:t>
            </a:r>
            <a:endParaRPr lang="en-US" sz="2600" b="1" dirty="0"/>
          </a:p>
        </p:txBody>
      </p:sp>
      <p:sp>
        <p:nvSpPr>
          <p:cNvPr id="31747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6248400" cy="2362200"/>
          </a:xfrm>
        </p:spPr>
        <p:txBody>
          <a:bodyPr/>
          <a:lstStyle/>
          <a:p>
            <a:endParaRPr lang="en-US" dirty="0" smtClean="0"/>
          </a:p>
        </p:txBody>
      </p:sp>
      <p:pic>
        <p:nvPicPr>
          <p:cNvPr id="5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887" y="64293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219200"/>
            <a:ext cx="7532687" cy="4800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762000"/>
            <a:ext cx="7772399" cy="4953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887" y="64293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7847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68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GB" sz="2600" b="1" u="sng" dirty="0" smtClean="0"/>
              <a:t>Special cases of linear resolution</a:t>
            </a:r>
            <a:r>
              <a:rPr lang="en-US" b="1" u="sng" dirty="0" smtClean="0"/>
              <a:t/>
            </a:r>
            <a:br>
              <a:rPr lang="en-US" b="1" u="sng" dirty="0" smtClean="0"/>
            </a:br>
            <a:endParaRPr lang="en-US" b="1" u="sng" dirty="0"/>
          </a:p>
        </p:txBody>
      </p:sp>
      <p:pic>
        <p:nvPicPr>
          <p:cNvPr id="3277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066800"/>
            <a:ext cx="7696200" cy="487045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sz="2600" b="1" dirty="0" smtClean="0"/>
              <a:t>Example </a:t>
            </a:r>
            <a:r>
              <a:rPr lang="en-US" sz="2600" b="1" dirty="0"/>
              <a:t>8</a:t>
            </a:r>
          </a:p>
        </p:txBody>
      </p:sp>
      <p:pic>
        <p:nvPicPr>
          <p:cNvPr id="3584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295400"/>
            <a:ext cx="7620000" cy="4751388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704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0"/>
            <a:ext cx="8458200" cy="47132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3400"/>
            <a:ext cx="4114800" cy="24574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992909"/>
            <a:ext cx="1967972" cy="277624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0028" y="609600"/>
            <a:ext cx="3491972" cy="117961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1800" y="2990850"/>
            <a:ext cx="2105025" cy="16668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7671" y="1737411"/>
            <a:ext cx="3867150" cy="113184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9268" y="3014662"/>
            <a:ext cx="2171700" cy="16192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600" y="5914557"/>
            <a:ext cx="7924800" cy="50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066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200" b="1" u="sng" smtClean="0"/>
              <a:t>Example 9</a:t>
            </a:r>
            <a:r>
              <a:rPr lang="en-US" sz="3200" b="1" smtClean="0"/>
              <a:t>. </a:t>
            </a:r>
            <a:r>
              <a:rPr lang="en-US" sz="3200" b="1" dirty="0" smtClean="0"/>
              <a:t>Modeling reasoning</a:t>
            </a:r>
            <a:endParaRPr lang="en-US" dirty="0"/>
          </a:p>
        </p:txBody>
      </p:sp>
      <p:pic>
        <p:nvPicPr>
          <p:cNvPr id="3789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219200"/>
            <a:ext cx="8077200" cy="39624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736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iel">
    <a:dk1>
      <a:sysClr val="windowText" lastClr="000000"/>
    </a:dk1>
    <a:lt1>
      <a:sysClr val="window" lastClr="FFFFFF"/>
    </a:lt1>
    <a:dk2>
      <a:srgbClr val="575F6D"/>
    </a:dk2>
    <a:lt2>
      <a:srgbClr val="FFF39D"/>
    </a:lt2>
    <a:accent1>
      <a:srgbClr val="FE8637"/>
    </a:accent1>
    <a:accent2>
      <a:srgbClr val="7598D9"/>
    </a:accent2>
    <a:accent3>
      <a:srgbClr val="B32C16"/>
    </a:accent3>
    <a:accent4>
      <a:srgbClr val="F5CD2D"/>
    </a:accent4>
    <a:accent5>
      <a:srgbClr val="AEBAD5"/>
    </a:accent5>
    <a:accent6>
      <a:srgbClr val="777C84"/>
    </a:accent6>
    <a:hlink>
      <a:srgbClr val="D2611C"/>
    </a:hlink>
    <a:folHlink>
      <a:srgbClr val="3B435B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23ED583A30E24F8919E2C8E1A2CFE0" ma:contentTypeVersion="4" ma:contentTypeDescription="Create a new document." ma:contentTypeScope="" ma:versionID="7feb08bea3aa909d016566500630529d">
  <xsd:schema xmlns:xsd="http://www.w3.org/2001/XMLSchema" xmlns:xs="http://www.w3.org/2001/XMLSchema" xmlns:p="http://schemas.microsoft.com/office/2006/metadata/properties" xmlns:ns2="84f5ebbe-e4a1-4f2d-be05-153acf23f567" targetNamespace="http://schemas.microsoft.com/office/2006/metadata/properties" ma:root="true" ma:fieldsID="01a82f6b989f4ac5c864eaf32f03f552" ns2:_="">
    <xsd:import namespace="84f5ebbe-e4a1-4f2d-be05-153acf23f5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f5ebbe-e4a1-4f2d-be05-153acf23f5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6690716-9D9E-40BC-ABEE-7CEC7EC6D200}"/>
</file>

<file path=customXml/itemProps2.xml><?xml version="1.0" encoding="utf-8"?>
<ds:datastoreItem xmlns:ds="http://schemas.openxmlformats.org/officeDocument/2006/customXml" ds:itemID="{1D11B26B-45D4-452C-A602-899E70EE9147}"/>
</file>

<file path=customXml/itemProps3.xml><?xml version="1.0" encoding="utf-8"?>
<ds:datastoreItem xmlns:ds="http://schemas.openxmlformats.org/officeDocument/2006/customXml" ds:itemID="{CDE89EDC-C01E-4116-8C08-1DEF489B9300}"/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4007</TotalTime>
  <Words>243</Words>
  <Application>Microsoft Office PowerPoint</Application>
  <PresentationFormat>On-screen Show (4:3)</PresentationFormat>
  <Paragraphs>56</Paragraphs>
  <Slides>33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Century Schoolbook</vt:lpstr>
      <vt:lpstr>Tahoma</vt:lpstr>
      <vt:lpstr>Wingdings</vt:lpstr>
      <vt:lpstr>Wingdings 2</vt:lpstr>
      <vt:lpstr>Oriel</vt:lpstr>
      <vt:lpstr>PowerPoint Presentation</vt:lpstr>
      <vt:lpstr>Resolution Proof Method</vt:lpstr>
      <vt:lpstr>Resolution Proof Method</vt:lpstr>
      <vt:lpstr>DECISION PROBLEMS IN           PROPOSITIONAL/PREDICATE LOGIC</vt:lpstr>
      <vt:lpstr>Resolution method  - formal system for propositional logic -</vt:lpstr>
      <vt:lpstr>Definitions</vt:lpstr>
      <vt:lpstr>Algorithm: General_propositional_resolution </vt:lpstr>
      <vt:lpstr>Theoretical Results</vt:lpstr>
      <vt:lpstr>Resolution - a refutation Proof method </vt:lpstr>
      <vt:lpstr>Example 1</vt:lpstr>
      <vt:lpstr>Theorem    (based on Davis-Putman procedure) </vt:lpstr>
      <vt:lpstr>Example 2. Modeling reasoning</vt:lpstr>
      <vt:lpstr>Example 2 – general Resolution(contd.)</vt:lpstr>
      <vt:lpstr>Strategies and Refinements of Resolution</vt:lpstr>
      <vt:lpstr>Remarks</vt:lpstr>
      <vt:lpstr>IMPORTANT!</vt:lpstr>
      <vt:lpstr>Strategies of Resolution</vt:lpstr>
      <vt:lpstr>Algorithm: level-saturation-strategy</vt:lpstr>
      <vt:lpstr>Example 3</vt:lpstr>
      <vt:lpstr>Lock Resolution</vt:lpstr>
      <vt:lpstr>Theorems – Lock resolution</vt:lpstr>
      <vt:lpstr>Remarks </vt:lpstr>
      <vt:lpstr>Example 4</vt:lpstr>
      <vt:lpstr>Example 5</vt:lpstr>
      <vt:lpstr>Example 6</vt:lpstr>
      <vt:lpstr>Example 6 (contd.)</vt:lpstr>
      <vt:lpstr>Linear Resolution (Loveland 1971)</vt:lpstr>
      <vt:lpstr>Theoretical results</vt:lpstr>
      <vt:lpstr>PowerPoint Presentation</vt:lpstr>
      <vt:lpstr>Special cases of linear resolution </vt:lpstr>
      <vt:lpstr>Example 8</vt:lpstr>
      <vt:lpstr>PowerPoint Presentation</vt:lpstr>
      <vt:lpstr>Example 9. Modeling reasoning</vt:lpstr>
    </vt:vector>
  </TitlesOfParts>
  <Company>Grizli777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LEN</dc:creator>
  <cp:lastModifiedBy>Windows User</cp:lastModifiedBy>
  <cp:revision>139</cp:revision>
  <dcterms:created xsi:type="dcterms:W3CDTF">2017-11-14T13:30:18Z</dcterms:created>
  <dcterms:modified xsi:type="dcterms:W3CDTF">2022-11-16T19:03:28Z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0x010100FC23ED583A30E24F8919E2C8E1A2CFE0</vt:lpwstr>
  </property>
</Properties>
</file>